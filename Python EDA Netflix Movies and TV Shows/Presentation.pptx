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rimson Roman" charset="1" panose="02030503060406020304"/>
      <p:regular r:id="rId27"/>
    </p:embeddedFont>
    <p:embeddedFont>
      <p:font typeface="Crimson Roman Bold" charset="1" panose="02000703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3250089"/>
            <a:ext cx="16230600" cy="3041650"/>
          </a:xfrm>
          <a:prstGeom prst="rect">
            <a:avLst/>
          </a:prstGeom>
        </p:spPr>
        <p:txBody>
          <a:bodyPr anchor="t" rtlCol="false" tIns="0" lIns="0" bIns="0" rIns="0">
            <a:spAutoFit/>
          </a:bodyPr>
          <a:lstStyle/>
          <a:p>
            <a:pPr algn="ctr">
              <a:lnSpc>
                <a:spcPts val="10999"/>
              </a:lnSpc>
            </a:pPr>
            <a:r>
              <a:rPr lang="en-US" sz="9999">
                <a:solidFill>
                  <a:srgbClr val="1F77B3"/>
                </a:solidFill>
                <a:latin typeface="Crimson Roman"/>
                <a:ea typeface="Crimson Roman"/>
                <a:cs typeface="Crimson Roman"/>
                <a:sym typeface="Crimson Roman"/>
              </a:rPr>
              <a:t>Netflix Movies &amp; TV Shows: </a:t>
            </a:r>
          </a:p>
          <a:p>
            <a:pPr algn="ctr">
              <a:lnSpc>
                <a:spcPts val="10999"/>
              </a:lnSpc>
            </a:pPr>
            <a:r>
              <a:rPr lang="en-US" sz="9999">
                <a:solidFill>
                  <a:srgbClr val="1F77B3"/>
                </a:solidFill>
                <a:latin typeface="Crimson Roman"/>
                <a:ea typeface="Crimson Roman"/>
                <a:cs typeface="Crimson Roman"/>
                <a:sym typeface="Crimson Roman"/>
              </a:rPr>
              <a:t>Data Analysis</a:t>
            </a:r>
          </a:p>
        </p:txBody>
      </p:sp>
      <p:sp>
        <p:nvSpPr>
          <p:cNvPr name="TextBox 3" id="3"/>
          <p:cNvSpPr txBox="true"/>
          <p:nvPr/>
        </p:nvSpPr>
        <p:spPr>
          <a:xfrm rot="0">
            <a:off x="2273496" y="6139339"/>
            <a:ext cx="13741008" cy="1301750"/>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Crimson Roman"/>
                <a:ea typeface="Crimson Roman"/>
                <a:cs typeface="Crimson Roman"/>
                <a:sym typeface="Crimson Roman"/>
              </a:rPr>
              <a:t>Exploring</a:t>
            </a:r>
            <a:r>
              <a:rPr lang="en-US" sz="3500">
                <a:solidFill>
                  <a:srgbClr val="000000"/>
                </a:solidFill>
                <a:latin typeface="Crimson Roman"/>
                <a:ea typeface="Crimson Roman"/>
                <a:cs typeface="Crimson Roman"/>
                <a:sym typeface="Crimson Roman"/>
              </a:rPr>
              <a:t> trends in genre popularity, viewer engagement, and language diversity across the Netflix catalog.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15720" y="895350"/>
            <a:ext cx="16856559" cy="1651000"/>
          </a:xfrm>
          <a:prstGeom prst="rect">
            <a:avLst/>
          </a:prstGeom>
        </p:spPr>
        <p:txBody>
          <a:bodyPr anchor="t" rtlCol="false" tIns="0" lIns="0" bIns="0" rIns="0">
            <a:spAutoFit/>
          </a:bodyPr>
          <a:lstStyle/>
          <a:p>
            <a:pPr algn="ctr">
              <a:lnSpc>
                <a:spcPts val="10999"/>
              </a:lnSpc>
            </a:pPr>
            <a:r>
              <a:rPr lang="en-US" sz="9999">
                <a:solidFill>
                  <a:srgbClr val="1F77B3"/>
                </a:solidFill>
                <a:latin typeface="Crimson Roman"/>
                <a:ea typeface="Crimson Roman"/>
                <a:cs typeface="Crimson Roman"/>
                <a:sym typeface="Crimson Roman"/>
              </a:rPr>
              <a:t>Outline</a:t>
            </a:r>
          </a:p>
        </p:txBody>
      </p:sp>
      <p:sp>
        <p:nvSpPr>
          <p:cNvPr name="TextBox 3" id="3"/>
          <p:cNvSpPr txBox="true"/>
          <p:nvPr/>
        </p:nvSpPr>
        <p:spPr>
          <a:xfrm rot="0">
            <a:off x="2273496" y="3003550"/>
            <a:ext cx="13741008" cy="6254750"/>
          </a:xfrm>
          <a:prstGeom prst="rect">
            <a:avLst/>
          </a:prstGeom>
        </p:spPr>
        <p:txBody>
          <a:bodyPr anchor="t" rtlCol="false" tIns="0" lIns="0" bIns="0" rIns="0">
            <a:spAutoFit/>
          </a:bodyPr>
          <a:lstStyle/>
          <a:p>
            <a:pPr algn="ctr">
              <a:lnSpc>
                <a:spcPts val="4900"/>
              </a:lnSpc>
            </a:pPr>
            <a:r>
              <a:rPr lang="en-US" sz="3500">
                <a:solidFill>
                  <a:srgbClr val="000000"/>
                </a:solidFill>
                <a:latin typeface="Crimson Roman"/>
                <a:ea typeface="Crimson Roman"/>
                <a:cs typeface="Crimson Roman"/>
                <a:sym typeface="Crimson Roman"/>
              </a:rPr>
              <a:t>Ex</a:t>
            </a:r>
            <a:r>
              <a:rPr lang="en-US" sz="3500">
                <a:solidFill>
                  <a:srgbClr val="000000"/>
                </a:solidFill>
                <a:latin typeface="Crimson Roman"/>
                <a:ea typeface="Crimson Roman"/>
                <a:cs typeface="Crimson Roman"/>
                <a:sym typeface="Crimson Roman"/>
              </a:rPr>
              <a:t>ecutive Summary</a:t>
            </a:r>
          </a:p>
          <a:p>
            <a:pPr algn="ctr">
              <a:lnSpc>
                <a:spcPts val="4900"/>
              </a:lnSpc>
            </a:pPr>
            <a:r>
              <a:rPr lang="en-US" sz="3500">
                <a:solidFill>
                  <a:srgbClr val="000000"/>
                </a:solidFill>
                <a:latin typeface="Crimson Roman"/>
                <a:ea typeface="Crimson Roman"/>
                <a:cs typeface="Crimson Roman"/>
                <a:sym typeface="Crimson Roman"/>
              </a:rPr>
              <a:t>Introduction</a:t>
            </a:r>
          </a:p>
          <a:p>
            <a:pPr algn="ctr">
              <a:lnSpc>
                <a:spcPts val="4900"/>
              </a:lnSpc>
            </a:pPr>
            <a:r>
              <a:rPr lang="en-US" sz="3500">
                <a:solidFill>
                  <a:srgbClr val="000000"/>
                </a:solidFill>
                <a:latin typeface="Crimson Roman"/>
                <a:ea typeface="Crimson Roman"/>
                <a:cs typeface="Crimson Roman"/>
                <a:sym typeface="Crimson Roman"/>
              </a:rPr>
              <a:t>Methodology</a:t>
            </a:r>
          </a:p>
          <a:p>
            <a:pPr algn="ctr">
              <a:lnSpc>
                <a:spcPts val="4900"/>
              </a:lnSpc>
            </a:pPr>
            <a:r>
              <a:rPr lang="en-US" sz="3500">
                <a:solidFill>
                  <a:srgbClr val="000000"/>
                </a:solidFill>
                <a:latin typeface="Crimson Roman"/>
                <a:ea typeface="Crimson Roman"/>
                <a:cs typeface="Crimson Roman"/>
                <a:sym typeface="Crimson Roman"/>
              </a:rPr>
              <a:t>Results</a:t>
            </a:r>
          </a:p>
          <a:p>
            <a:pPr algn="ctr">
              <a:lnSpc>
                <a:spcPts val="4900"/>
              </a:lnSpc>
            </a:pPr>
            <a:r>
              <a:rPr lang="en-US" sz="3500">
                <a:solidFill>
                  <a:srgbClr val="000000"/>
                </a:solidFill>
                <a:latin typeface="Crimson Roman"/>
                <a:ea typeface="Crimson Roman"/>
                <a:cs typeface="Crimson Roman"/>
                <a:sym typeface="Crimson Roman"/>
              </a:rPr>
              <a:t>Visualization – Charts</a:t>
            </a:r>
          </a:p>
          <a:p>
            <a:pPr algn="ctr">
              <a:lnSpc>
                <a:spcPts val="4900"/>
              </a:lnSpc>
            </a:pPr>
            <a:r>
              <a:rPr lang="en-US" sz="3500">
                <a:solidFill>
                  <a:srgbClr val="000000"/>
                </a:solidFill>
                <a:latin typeface="Crimson Roman"/>
                <a:ea typeface="Crimson Roman"/>
                <a:cs typeface="Crimson Roman"/>
                <a:sym typeface="Crimson Roman"/>
              </a:rPr>
              <a:t>Dashboard</a:t>
            </a:r>
          </a:p>
          <a:p>
            <a:pPr algn="ctr">
              <a:lnSpc>
                <a:spcPts val="4900"/>
              </a:lnSpc>
            </a:pPr>
            <a:r>
              <a:rPr lang="en-US" sz="3500">
                <a:solidFill>
                  <a:srgbClr val="000000"/>
                </a:solidFill>
                <a:latin typeface="Crimson Roman"/>
                <a:ea typeface="Crimson Roman"/>
                <a:cs typeface="Crimson Roman"/>
                <a:sym typeface="Crimson Roman"/>
              </a:rPr>
              <a:t>Discussion</a:t>
            </a:r>
          </a:p>
          <a:p>
            <a:pPr algn="ctr">
              <a:lnSpc>
                <a:spcPts val="4900"/>
              </a:lnSpc>
            </a:pPr>
            <a:r>
              <a:rPr lang="en-US" sz="3500">
                <a:solidFill>
                  <a:srgbClr val="000000"/>
                </a:solidFill>
                <a:latin typeface="Crimson Roman"/>
                <a:ea typeface="Crimson Roman"/>
                <a:cs typeface="Crimson Roman"/>
                <a:sym typeface="Crimson Roman"/>
              </a:rPr>
              <a:t>Findings &amp; Implications</a:t>
            </a:r>
          </a:p>
          <a:p>
            <a:pPr algn="ctr">
              <a:lnSpc>
                <a:spcPts val="4900"/>
              </a:lnSpc>
            </a:pPr>
            <a:r>
              <a:rPr lang="en-US" sz="3500">
                <a:solidFill>
                  <a:srgbClr val="000000"/>
                </a:solidFill>
                <a:latin typeface="Crimson Roman"/>
                <a:ea typeface="Crimson Roman"/>
                <a:cs typeface="Crimson Roman"/>
                <a:sym typeface="Crimson Roman"/>
              </a:rPr>
              <a:t>Conclusion</a:t>
            </a:r>
          </a:p>
          <a:p>
            <a:pPr algn="ctr">
              <a:lnSpc>
                <a:spcPts val="4900"/>
              </a:lnSpc>
            </a:pPr>
            <a:r>
              <a:rPr lang="en-US" sz="3500">
                <a:solidFill>
                  <a:srgbClr val="000000"/>
                </a:solidFill>
                <a:latin typeface="Crimson Roman"/>
                <a:ea typeface="Crimson Roman"/>
                <a:cs typeface="Crimson Roman"/>
                <a:sym typeface="Crimson Roman"/>
              </a:rPr>
              <a:t>Appendix</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32606" y="895350"/>
            <a:ext cx="13422789"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Exe</a:t>
            </a:r>
            <a:r>
              <a:rPr lang="en-US" sz="9999">
                <a:solidFill>
                  <a:srgbClr val="1F77B3"/>
                </a:solidFill>
                <a:latin typeface="Crimson Roman"/>
                <a:ea typeface="Crimson Roman"/>
                <a:cs typeface="Crimson Roman"/>
                <a:sym typeface="Crimson Roman"/>
              </a:rPr>
              <a:t>cutive Summary</a:t>
            </a:r>
          </a:p>
        </p:txBody>
      </p:sp>
      <p:sp>
        <p:nvSpPr>
          <p:cNvPr name="TextBox 3" id="3"/>
          <p:cNvSpPr txBox="true"/>
          <p:nvPr/>
        </p:nvSpPr>
        <p:spPr>
          <a:xfrm rot="0">
            <a:off x="2432606" y="2638308"/>
            <a:ext cx="13422789" cy="4394200"/>
          </a:xfrm>
          <a:prstGeom prst="rect">
            <a:avLst/>
          </a:prstGeom>
        </p:spPr>
        <p:txBody>
          <a:bodyPr anchor="t" rtlCol="false" tIns="0" lIns="0" bIns="0" rIns="0">
            <a:spAutoFit/>
          </a:bodyPr>
          <a:lstStyle/>
          <a:p>
            <a:pPr algn="just">
              <a:lnSpc>
                <a:spcPts val="4999"/>
              </a:lnSpc>
            </a:pPr>
            <a:r>
              <a:rPr lang="en-US" sz="2499">
                <a:solidFill>
                  <a:srgbClr val="000000"/>
                </a:solidFill>
                <a:latin typeface="Crimson Roman"/>
                <a:ea typeface="Crimson Roman"/>
                <a:cs typeface="Crimson Roman"/>
                <a:sym typeface="Crimson Roman"/>
              </a:rPr>
              <a:t>Netflix Movies &amp; TV Shows Dataset: Key Findings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Drama</a:t>
            </a:r>
            <a:r>
              <a:rPr lang="en-US" sz="2499">
                <a:solidFill>
                  <a:srgbClr val="000000"/>
                </a:solidFill>
                <a:latin typeface="Crimson Roman"/>
                <a:ea typeface="Crimson Roman"/>
                <a:cs typeface="Crimson Roman"/>
                <a:sym typeface="Crimson Roman"/>
              </a:rPr>
              <a:t> dominates the catalog with ~3,700 titles, far exceeding all other genres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Adventure leads in both average popularity (~54) and average vote count (~2,300)</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English-language content accounts for over 7,500 titles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Malayalam (ML) content achieves the highest average popularity (~150)</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English-language titles lead in average vote count (~1,670)</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Dataset: ~9,000+ Netflix titles across multiple languages and genres with popularity and vote metrics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32606" y="895350"/>
            <a:ext cx="13422789"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Introduction</a:t>
            </a:r>
          </a:p>
        </p:txBody>
      </p:sp>
      <p:sp>
        <p:nvSpPr>
          <p:cNvPr name="TextBox 3" id="3"/>
          <p:cNvSpPr txBox="true"/>
          <p:nvPr/>
        </p:nvSpPr>
        <p:spPr>
          <a:xfrm rot="0">
            <a:off x="2432606" y="2638308"/>
            <a:ext cx="13422789" cy="5651500"/>
          </a:xfrm>
          <a:prstGeom prst="rect">
            <a:avLst/>
          </a:prstGeom>
        </p:spPr>
        <p:txBody>
          <a:bodyPr anchor="t" rtlCol="false" tIns="0" lIns="0" bIns="0" rIns="0">
            <a:spAutoFit/>
          </a:bodyPr>
          <a:lstStyle/>
          <a:p>
            <a:pPr algn="just">
              <a:lnSpc>
                <a:spcPts val="4999"/>
              </a:lnSpc>
            </a:pPr>
            <a:r>
              <a:rPr lang="en-US" sz="2499">
                <a:solidFill>
                  <a:srgbClr val="000000"/>
                </a:solidFill>
                <a:latin typeface="Crimson Roman"/>
                <a:ea typeface="Crimson Roman"/>
                <a:cs typeface="Crimson Roman"/>
                <a:sym typeface="Crimson Roman"/>
              </a:rPr>
              <a:t>Netflix Movies &amp; TV Shows Dataset – Context &amp; Purpose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Dataset:</a:t>
            </a:r>
            <a:r>
              <a:rPr lang="en-US" sz="2499">
                <a:solidFill>
                  <a:srgbClr val="000000"/>
                </a:solidFill>
                <a:latin typeface="Crimson Roman"/>
                <a:ea typeface="Crimson Roman"/>
                <a:cs typeface="Crimson Roman"/>
                <a:sym typeface="Crimson Roman"/>
              </a:rPr>
              <a:t> Movie and TV show metadata scraped from Netflix/TMDB (Kaggle – Nalisha, 2022)</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Target: Popularity, vote count, and vote average across genres and languages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Purpose: Identify content patterns to support catalog strategy and recommendation insights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Audience: Data analysts, content strategists, streaming platform researchers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Variables include title, genre, original language, popularity score, vote count, vote average, and release date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Analysis focuses on 6 key visualizations: popularity by genre, movie count by genre, vote count by genre, popularity by language, movie count by language, and vote count by language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32606" y="895350"/>
            <a:ext cx="13422789"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Methodology</a:t>
            </a:r>
          </a:p>
        </p:txBody>
      </p:sp>
      <p:sp>
        <p:nvSpPr>
          <p:cNvPr name="TextBox 3" id="3"/>
          <p:cNvSpPr txBox="true"/>
          <p:nvPr/>
        </p:nvSpPr>
        <p:spPr>
          <a:xfrm rot="0">
            <a:off x="2432606" y="2638308"/>
            <a:ext cx="13422789" cy="6908800"/>
          </a:xfrm>
          <a:prstGeom prst="rect">
            <a:avLst/>
          </a:prstGeom>
        </p:spPr>
        <p:txBody>
          <a:bodyPr anchor="t" rtlCol="false" tIns="0" lIns="0" bIns="0" rIns="0">
            <a:spAutoFit/>
          </a:bodyPr>
          <a:lstStyle/>
          <a:p>
            <a:pPr algn="just">
              <a:lnSpc>
                <a:spcPts val="4999"/>
              </a:lnSpc>
            </a:pPr>
            <a:r>
              <a:rPr lang="en-US" sz="2499">
                <a:solidFill>
                  <a:srgbClr val="000000"/>
                </a:solidFill>
                <a:latin typeface="Crimson Roman"/>
                <a:ea typeface="Crimson Roman"/>
                <a:cs typeface="Crimson Roman"/>
                <a:sym typeface="Crimson Roman"/>
              </a:rPr>
              <a:t>Data Source &amp; Analytical Approach</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Source: N</a:t>
            </a:r>
            <a:r>
              <a:rPr lang="en-US" sz="2499">
                <a:solidFill>
                  <a:srgbClr val="000000"/>
                </a:solidFill>
                <a:latin typeface="Crimson Roman"/>
                <a:ea typeface="Crimson Roman"/>
                <a:cs typeface="Crimson Roman"/>
                <a:sym typeface="Crimson Roman"/>
              </a:rPr>
              <a:t>etflix</a:t>
            </a:r>
            <a:r>
              <a:rPr lang="en-US" sz="2499">
                <a:solidFill>
                  <a:srgbClr val="000000"/>
                </a:solidFill>
                <a:latin typeface="Crimson Roman"/>
                <a:ea typeface="Crimson Roman"/>
                <a:cs typeface="Crimson Roman"/>
                <a:sym typeface="Crimson Roman"/>
              </a:rPr>
              <a:t> Movies and TV Shows dataset (Kaggle – Nalisha)</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~9,000+ observations with columns: Title, Genre, Original_Language, Popularity, Vote_Count, Vote_Average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Tools: Python (pandas, numpy, seaborn, matplotlib)</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Steps: Load → drop missing values → convert data types → normalize → create categorical bins → build pivot tables → visualize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Popularity_Category (Low/Moderate/High/Trending) </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Vote_Count_Category (Niche/Limited/Popular/Mainstream)</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Vote_Average_Category (Poor/Average/Good/Excellent)</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Dummy variables created for Original_Language and Genre to enable binary aggregation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413419"/>
            <a:ext cx="5656485" cy="5680658"/>
          </a:xfrm>
          <a:custGeom>
            <a:avLst/>
            <a:gdLst/>
            <a:ahLst/>
            <a:cxnLst/>
            <a:rect r="r" b="b" t="t" l="l"/>
            <a:pathLst>
              <a:path h="5680658" w="5656485">
                <a:moveTo>
                  <a:pt x="0" y="0"/>
                </a:moveTo>
                <a:lnTo>
                  <a:pt x="5656485" y="0"/>
                </a:lnTo>
                <a:lnTo>
                  <a:pt x="5656485" y="5680657"/>
                </a:lnTo>
                <a:lnTo>
                  <a:pt x="0" y="5680657"/>
                </a:lnTo>
                <a:lnTo>
                  <a:pt x="0" y="0"/>
                </a:lnTo>
                <a:close/>
              </a:path>
            </a:pathLst>
          </a:custGeom>
          <a:blipFill>
            <a:blip r:embed="rId2"/>
            <a:stretch>
              <a:fillRect l="0" t="0" r="0" b="0"/>
            </a:stretch>
          </a:blipFill>
        </p:spPr>
      </p:sp>
      <p:sp>
        <p:nvSpPr>
          <p:cNvPr name="TextBox 3" id="3"/>
          <p:cNvSpPr txBox="true"/>
          <p:nvPr/>
        </p:nvSpPr>
        <p:spPr>
          <a:xfrm rot="0">
            <a:off x="8977993" y="4046295"/>
            <a:ext cx="7758428" cy="1207452"/>
          </a:xfrm>
          <a:prstGeom prst="rect">
            <a:avLst/>
          </a:prstGeom>
        </p:spPr>
        <p:txBody>
          <a:bodyPr anchor="t" rtlCol="false" tIns="0" lIns="0" bIns="0" rIns="0">
            <a:spAutoFit/>
          </a:bodyPr>
          <a:lstStyle/>
          <a:p>
            <a:pPr algn="l">
              <a:lnSpc>
                <a:spcPts val="8057"/>
              </a:lnSpc>
            </a:pPr>
            <a:r>
              <a:rPr lang="en-US" sz="7325">
                <a:solidFill>
                  <a:srgbClr val="1F77B3"/>
                </a:solidFill>
                <a:latin typeface="Crimson Roman"/>
                <a:ea typeface="Crimson Roman"/>
                <a:cs typeface="Crimson Roman"/>
                <a:sym typeface="Crimson Roman"/>
              </a:rPr>
              <a:t>Results</a:t>
            </a:r>
          </a:p>
        </p:txBody>
      </p:sp>
      <p:sp>
        <p:nvSpPr>
          <p:cNvPr name="TextBox 4" id="4"/>
          <p:cNvSpPr txBox="true"/>
          <p:nvPr/>
        </p:nvSpPr>
        <p:spPr>
          <a:xfrm rot="0">
            <a:off x="8977993" y="5731594"/>
            <a:ext cx="7758428" cy="1474470"/>
          </a:xfrm>
          <a:prstGeom prst="rect">
            <a:avLst/>
          </a:prstGeom>
        </p:spPr>
        <p:txBody>
          <a:bodyPr anchor="t" rtlCol="false" tIns="0" lIns="0" bIns="0" rIns="0">
            <a:spAutoFit/>
          </a:bodyPr>
          <a:lstStyle/>
          <a:p>
            <a:pPr algn="l" marL="0" indent="0" lvl="0">
              <a:lnSpc>
                <a:spcPts val="3779"/>
              </a:lnSpc>
              <a:spcBef>
                <a:spcPct val="0"/>
              </a:spcBef>
            </a:pPr>
            <a:r>
              <a:rPr lang="en-US" sz="2700">
                <a:solidFill>
                  <a:srgbClr val="000000"/>
                </a:solidFill>
                <a:latin typeface="Crimson Roman"/>
                <a:ea typeface="Crimson Roman"/>
                <a:cs typeface="Crimson Roman"/>
                <a:sym typeface="Crimson Roman"/>
              </a:rPr>
              <a:t>Six </a:t>
            </a:r>
            <a:r>
              <a:rPr lang="en-US" sz="2700">
                <a:solidFill>
                  <a:srgbClr val="000000"/>
                </a:solidFill>
                <a:latin typeface="Crimson Roman"/>
                <a:ea typeface="Crimson Roman"/>
                <a:cs typeface="Crimson Roman"/>
                <a:sym typeface="Crimson Roman"/>
              </a:rPr>
              <a:t>exploratory visualizations reveal patterns in content popularity, volume distribution, and audience engagement across Netflix genres and languages.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53719" y="2291407"/>
            <a:ext cx="7605581" cy="5704186"/>
          </a:xfrm>
          <a:custGeom>
            <a:avLst/>
            <a:gdLst/>
            <a:ahLst/>
            <a:cxnLst/>
            <a:rect r="r" b="b" t="t" l="l"/>
            <a:pathLst>
              <a:path h="5704186" w="7605581">
                <a:moveTo>
                  <a:pt x="0" y="0"/>
                </a:moveTo>
                <a:lnTo>
                  <a:pt x="7605581" y="0"/>
                </a:lnTo>
                <a:lnTo>
                  <a:pt x="7605581" y="5704186"/>
                </a:lnTo>
                <a:lnTo>
                  <a:pt x="0" y="5704186"/>
                </a:lnTo>
                <a:lnTo>
                  <a:pt x="0" y="0"/>
                </a:lnTo>
                <a:close/>
              </a:path>
            </a:pathLst>
          </a:custGeom>
          <a:blipFill>
            <a:blip r:embed="rId2"/>
            <a:stretch>
              <a:fillRect l="0" t="0" r="0" b="0"/>
            </a:stretch>
          </a:blipFill>
        </p:spPr>
      </p:sp>
      <p:sp>
        <p:nvSpPr>
          <p:cNvPr name="TextBox 3" id="3"/>
          <p:cNvSpPr txBox="true"/>
          <p:nvPr/>
        </p:nvSpPr>
        <p:spPr>
          <a:xfrm rot="0">
            <a:off x="1028700" y="895350"/>
            <a:ext cx="8115300" cy="4432300"/>
          </a:xfrm>
          <a:prstGeom prst="rect">
            <a:avLst/>
          </a:prstGeom>
        </p:spPr>
        <p:txBody>
          <a:bodyPr anchor="t" rtlCol="false" tIns="0" lIns="0" bIns="0" rIns="0">
            <a:spAutoFit/>
          </a:bodyPr>
          <a:lstStyle/>
          <a:p>
            <a:pPr algn="just">
              <a:lnSpc>
                <a:spcPts val="10999"/>
              </a:lnSpc>
            </a:pPr>
            <a:r>
              <a:rPr lang="en-US" sz="9999">
                <a:solidFill>
                  <a:srgbClr val="1F77B3"/>
                </a:solidFill>
                <a:latin typeface="Crimson Roman"/>
                <a:ea typeface="Crimson Roman"/>
                <a:cs typeface="Crimson Roman"/>
                <a:sym typeface="Crimson Roman"/>
              </a:rPr>
              <a:t>Average Popularity </a:t>
            </a:r>
          </a:p>
          <a:p>
            <a:pPr algn="just" marL="0" indent="0" lvl="0">
              <a:lnSpc>
                <a:spcPts val="10999"/>
              </a:lnSpc>
            </a:pPr>
            <a:r>
              <a:rPr lang="en-US" sz="9999">
                <a:solidFill>
                  <a:srgbClr val="1F77B3"/>
                </a:solidFill>
                <a:latin typeface="Crimson Roman"/>
                <a:ea typeface="Crimson Roman"/>
                <a:cs typeface="Crimson Roman"/>
                <a:sym typeface="Crimson Roman"/>
              </a:rPr>
              <a:t>by Genre</a:t>
            </a:r>
          </a:p>
        </p:txBody>
      </p:sp>
      <p:sp>
        <p:nvSpPr>
          <p:cNvPr name="TextBox 4" id="4"/>
          <p:cNvSpPr txBox="true"/>
          <p:nvPr/>
        </p:nvSpPr>
        <p:spPr>
          <a:xfrm rot="0">
            <a:off x="1028700" y="5478462"/>
            <a:ext cx="8115300" cy="377983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Adventure </a:t>
            </a:r>
            <a:r>
              <a:rPr lang="en-US" sz="2499">
                <a:solidFill>
                  <a:srgbClr val="000000"/>
                </a:solidFill>
                <a:latin typeface="Crimson Roman"/>
                <a:ea typeface="Crimson Roman"/>
                <a:cs typeface="Crimson Roman"/>
                <a:sym typeface="Crimson Roman"/>
              </a:rPr>
              <a:t>l</a:t>
            </a:r>
            <a:r>
              <a:rPr lang="en-US" sz="2499">
                <a:solidFill>
                  <a:srgbClr val="000000"/>
                </a:solidFill>
                <a:latin typeface="Crimson Roman"/>
                <a:ea typeface="Crimson Roman"/>
                <a:cs typeface="Crimson Roman"/>
                <a:sym typeface="Crimson Roman"/>
              </a:rPr>
              <a:t>eads all genres in average popularity (~54), followed closely by Fantasy (~53) and Animation (~52). Action and Science Fiction round out the top five. Horror ranks lowest among the top 10 at ~38, suggesting it attracts a more niche but consistent audience.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53719" y="2291407"/>
            <a:ext cx="7605581" cy="5704186"/>
          </a:xfrm>
          <a:custGeom>
            <a:avLst/>
            <a:gdLst/>
            <a:ahLst/>
            <a:cxnLst/>
            <a:rect r="r" b="b" t="t" l="l"/>
            <a:pathLst>
              <a:path h="5704186" w="7605581">
                <a:moveTo>
                  <a:pt x="0" y="0"/>
                </a:moveTo>
                <a:lnTo>
                  <a:pt x="7605581" y="0"/>
                </a:lnTo>
                <a:lnTo>
                  <a:pt x="7605581" y="5704186"/>
                </a:lnTo>
                <a:lnTo>
                  <a:pt x="0" y="5704186"/>
                </a:lnTo>
                <a:lnTo>
                  <a:pt x="0" y="0"/>
                </a:lnTo>
                <a:close/>
              </a:path>
            </a:pathLst>
          </a:custGeom>
          <a:blipFill>
            <a:blip r:embed="rId2"/>
            <a:stretch>
              <a:fillRect l="0" t="0" r="0" b="0"/>
            </a:stretch>
          </a:blipFill>
        </p:spPr>
      </p:sp>
      <p:sp>
        <p:nvSpPr>
          <p:cNvPr name="TextBox 3" id="3"/>
          <p:cNvSpPr txBox="true"/>
          <p:nvPr/>
        </p:nvSpPr>
        <p:spPr>
          <a:xfrm rot="0">
            <a:off x="1028700" y="895350"/>
            <a:ext cx="8115300" cy="304165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Movie Count by Genre</a:t>
            </a:r>
          </a:p>
        </p:txBody>
      </p:sp>
      <p:sp>
        <p:nvSpPr>
          <p:cNvPr name="TextBox 4" id="4"/>
          <p:cNvSpPr txBox="true"/>
          <p:nvPr/>
        </p:nvSpPr>
        <p:spPr>
          <a:xfrm rot="0">
            <a:off x="1028700" y="4849812"/>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Dr</a:t>
            </a:r>
            <a:r>
              <a:rPr lang="en-US" sz="2499">
                <a:solidFill>
                  <a:srgbClr val="000000"/>
                </a:solidFill>
                <a:latin typeface="Crimson Roman"/>
                <a:ea typeface="Crimson Roman"/>
                <a:cs typeface="Crimson Roman"/>
                <a:sym typeface="Crimson Roman"/>
              </a:rPr>
              <a:t>ama is by far the most represented genre with ~3,700 titles, nearly 700 more than Comedy in second place (~3,030). Action and Thriller follow with ~2,700 and ~2,500 titles respectively. The top four genres make up a disproportionate share of the catalog, while Fantasy at ~1,300 titles sits at the edge of the top 10.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95350"/>
            <a:ext cx="8625019" cy="4432300"/>
          </a:xfrm>
          <a:prstGeom prst="rect">
            <a:avLst/>
          </a:prstGeom>
        </p:spPr>
        <p:txBody>
          <a:bodyPr anchor="t" rtlCol="false" tIns="0" lIns="0" bIns="0" rIns="0">
            <a:spAutoFit/>
          </a:bodyPr>
          <a:lstStyle/>
          <a:p>
            <a:pPr algn="just">
              <a:lnSpc>
                <a:spcPts val="10999"/>
              </a:lnSpc>
            </a:pPr>
            <a:r>
              <a:rPr lang="en-US" sz="9999">
                <a:solidFill>
                  <a:srgbClr val="1F77B3"/>
                </a:solidFill>
                <a:latin typeface="Crimson Roman"/>
                <a:ea typeface="Crimson Roman"/>
                <a:cs typeface="Crimson Roman"/>
                <a:sym typeface="Crimson Roman"/>
              </a:rPr>
              <a:t>Average </a:t>
            </a:r>
          </a:p>
          <a:p>
            <a:pPr algn="just">
              <a:lnSpc>
                <a:spcPts val="10999"/>
              </a:lnSpc>
            </a:pPr>
            <a:r>
              <a:rPr lang="en-US" sz="9999">
                <a:solidFill>
                  <a:srgbClr val="1F77B3"/>
                </a:solidFill>
                <a:latin typeface="Crimson Roman"/>
                <a:ea typeface="Crimson Roman"/>
                <a:cs typeface="Crimson Roman"/>
                <a:sym typeface="Crimson Roman"/>
              </a:rPr>
              <a:t>Vote Count </a:t>
            </a:r>
          </a:p>
          <a:p>
            <a:pPr algn="just" marL="0" indent="0" lvl="0">
              <a:lnSpc>
                <a:spcPts val="10999"/>
              </a:lnSpc>
            </a:pPr>
            <a:r>
              <a:rPr lang="en-US" sz="9999">
                <a:solidFill>
                  <a:srgbClr val="1F77B3"/>
                </a:solidFill>
                <a:latin typeface="Crimson Roman"/>
                <a:ea typeface="Crimson Roman"/>
                <a:cs typeface="Crimson Roman"/>
                <a:sym typeface="Crimson Roman"/>
              </a:rPr>
              <a:t>by Genre</a:t>
            </a:r>
          </a:p>
        </p:txBody>
      </p:sp>
      <p:sp>
        <p:nvSpPr>
          <p:cNvPr name="TextBox 3" id="3"/>
          <p:cNvSpPr txBox="true"/>
          <p:nvPr/>
        </p:nvSpPr>
        <p:spPr>
          <a:xfrm rot="0">
            <a:off x="1028700" y="5080000"/>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Adv</a:t>
            </a:r>
            <a:r>
              <a:rPr lang="en-US" sz="2499">
                <a:solidFill>
                  <a:srgbClr val="000000"/>
                </a:solidFill>
                <a:latin typeface="Crimson Roman"/>
                <a:ea typeface="Crimson Roman"/>
                <a:cs typeface="Crimson Roman"/>
                <a:sym typeface="Crimson Roman"/>
              </a:rPr>
              <a:t>enture and Science Fiction dominate audience engagement with average vote counts of ~2,300 and ~2,200 respectively, significantly higher than Fantasy (~1,950) and Action (~1,800). Drama, despite having the most titles, ranks lowest among the top 10 in vote count (~1,370), indicating it draws volume but lower per-title engagement.</a:t>
            </a:r>
          </a:p>
        </p:txBody>
      </p:sp>
      <p:sp>
        <p:nvSpPr>
          <p:cNvPr name="Freeform 4" id="4"/>
          <p:cNvSpPr/>
          <p:nvPr/>
        </p:nvSpPr>
        <p:spPr>
          <a:xfrm flipH="false" flipV="false" rot="0">
            <a:off x="9653719" y="558018"/>
            <a:ext cx="7605581" cy="5704186"/>
          </a:xfrm>
          <a:custGeom>
            <a:avLst/>
            <a:gdLst/>
            <a:ahLst/>
            <a:cxnLst/>
            <a:rect r="r" b="b" t="t" l="l"/>
            <a:pathLst>
              <a:path h="5704186" w="7605581">
                <a:moveTo>
                  <a:pt x="0" y="0"/>
                </a:moveTo>
                <a:lnTo>
                  <a:pt x="7605581" y="0"/>
                </a:lnTo>
                <a:lnTo>
                  <a:pt x="7605581" y="5704185"/>
                </a:lnTo>
                <a:lnTo>
                  <a:pt x="0" y="5704185"/>
                </a:lnTo>
                <a:lnTo>
                  <a:pt x="0" y="0"/>
                </a:lnTo>
                <a:close/>
              </a:path>
            </a:pathLst>
          </a:custGeom>
          <a:blipFill>
            <a:blip r:embed="rId2"/>
            <a:stretch>
              <a:fillRect l="0" t="0" r="0" b="0"/>
            </a:stretch>
          </a:blipFill>
        </p:spPr>
      </p:sp>
      <p:sp>
        <p:nvSpPr>
          <p:cNvPr name="Freeform 5" id="5"/>
          <p:cNvSpPr/>
          <p:nvPr/>
        </p:nvSpPr>
        <p:spPr>
          <a:xfrm flipH="false" flipV="false" rot="0">
            <a:off x="9653719" y="6262203"/>
            <a:ext cx="7605581" cy="3802790"/>
          </a:xfrm>
          <a:custGeom>
            <a:avLst/>
            <a:gdLst/>
            <a:ahLst/>
            <a:cxnLst/>
            <a:rect r="r" b="b" t="t" l="l"/>
            <a:pathLst>
              <a:path h="3802790" w="7605581">
                <a:moveTo>
                  <a:pt x="0" y="0"/>
                </a:moveTo>
                <a:lnTo>
                  <a:pt x="7605581" y="0"/>
                </a:lnTo>
                <a:lnTo>
                  <a:pt x="7605581" y="3802791"/>
                </a:lnTo>
                <a:lnTo>
                  <a:pt x="0" y="3802791"/>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53719" y="3171977"/>
            <a:ext cx="7605581" cy="3943046"/>
          </a:xfrm>
          <a:custGeom>
            <a:avLst/>
            <a:gdLst/>
            <a:ahLst/>
            <a:cxnLst/>
            <a:rect r="r" b="b" t="t" l="l"/>
            <a:pathLst>
              <a:path h="3943046" w="7605581">
                <a:moveTo>
                  <a:pt x="0" y="0"/>
                </a:moveTo>
                <a:lnTo>
                  <a:pt x="7605581" y="0"/>
                </a:lnTo>
                <a:lnTo>
                  <a:pt x="7605581" y="3943046"/>
                </a:lnTo>
                <a:lnTo>
                  <a:pt x="0" y="3943046"/>
                </a:lnTo>
                <a:lnTo>
                  <a:pt x="0" y="0"/>
                </a:lnTo>
                <a:close/>
              </a:path>
            </a:pathLst>
          </a:custGeom>
          <a:blipFill>
            <a:blip r:embed="rId2"/>
            <a:stretch>
              <a:fillRect l="0" t="0" r="0" b="0"/>
            </a:stretch>
          </a:blipFill>
        </p:spPr>
      </p:sp>
      <p:sp>
        <p:nvSpPr>
          <p:cNvPr name="TextBox 3" id="3"/>
          <p:cNvSpPr txBox="true"/>
          <p:nvPr/>
        </p:nvSpPr>
        <p:spPr>
          <a:xfrm rot="0">
            <a:off x="1028700" y="895350"/>
            <a:ext cx="8625019" cy="4432300"/>
          </a:xfrm>
          <a:prstGeom prst="rect">
            <a:avLst/>
          </a:prstGeom>
        </p:spPr>
        <p:txBody>
          <a:bodyPr anchor="t" rtlCol="false" tIns="0" lIns="0" bIns="0" rIns="0">
            <a:spAutoFit/>
          </a:bodyPr>
          <a:lstStyle/>
          <a:p>
            <a:pPr algn="just">
              <a:lnSpc>
                <a:spcPts val="10999"/>
              </a:lnSpc>
            </a:pPr>
            <a:r>
              <a:rPr lang="en-US" sz="9999">
                <a:solidFill>
                  <a:srgbClr val="1F77B3"/>
                </a:solidFill>
                <a:latin typeface="Crimson Roman"/>
                <a:ea typeface="Crimson Roman"/>
                <a:cs typeface="Crimson Roman"/>
                <a:sym typeface="Crimson Roman"/>
              </a:rPr>
              <a:t>G</a:t>
            </a:r>
            <a:r>
              <a:rPr lang="en-US" sz="9999">
                <a:solidFill>
                  <a:srgbClr val="1F77B3"/>
                </a:solidFill>
                <a:latin typeface="Crimson Roman"/>
                <a:ea typeface="Crimson Roman"/>
                <a:cs typeface="Crimson Roman"/>
                <a:sym typeface="Crimson Roman"/>
              </a:rPr>
              <a:t>enre vs. </a:t>
            </a:r>
          </a:p>
          <a:p>
            <a:pPr algn="just" marL="0" indent="0" lvl="0">
              <a:lnSpc>
                <a:spcPts val="10999"/>
              </a:lnSpc>
            </a:pPr>
            <a:r>
              <a:rPr lang="en-US" sz="9999">
                <a:solidFill>
                  <a:srgbClr val="1F77B3"/>
                </a:solidFill>
                <a:latin typeface="Crimson Roman"/>
                <a:ea typeface="Crimson Roman"/>
                <a:cs typeface="Crimson Roman"/>
                <a:sym typeface="Crimson Roman"/>
              </a:rPr>
              <a:t>Popularity Bubble</a:t>
            </a:r>
          </a:p>
        </p:txBody>
      </p:sp>
      <p:sp>
        <p:nvSpPr>
          <p:cNvPr name="TextBox 4" id="4"/>
          <p:cNvSpPr txBox="true"/>
          <p:nvPr/>
        </p:nvSpPr>
        <p:spPr>
          <a:xfrm rot="0">
            <a:off x="1028700" y="5080000"/>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Adv</a:t>
            </a:r>
            <a:r>
              <a:rPr lang="en-US" sz="2499">
                <a:solidFill>
                  <a:srgbClr val="000000"/>
                </a:solidFill>
                <a:latin typeface="Crimson Roman"/>
                <a:ea typeface="Crimson Roman"/>
                <a:cs typeface="Crimson Roman"/>
                <a:sym typeface="Crimson Roman"/>
              </a:rPr>
              <a:t>enture, Animation, and Fantasy achieve the highest average popularity despite moderate catalog sizes, shown by their large bubbles at the top of the chart. Drama, the largest genre by volume, clusters near the bottom in popularity (~30), reinforcing that catalog size does not drive per-title audience interest.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95350"/>
            <a:ext cx="13422789"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Findings &amp; Implications</a:t>
            </a:r>
          </a:p>
        </p:txBody>
      </p:sp>
      <p:sp>
        <p:nvSpPr>
          <p:cNvPr name="TextBox 3" id="3"/>
          <p:cNvSpPr txBox="true"/>
          <p:nvPr/>
        </p:nvSpPr>
        <p:spPr>
          <a:xfrm rot="0">
            <a:off x="1028700" y="2298700"/>
            <a:ext cx="16230600" cy="6937375"/>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Findings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Drama is the highest-volume genr</a:t>
            </a:r>
            <a:r>
              <a:rPr lang="en-US" sz="2499">
                <a:solidFill>
                  <a:srgbClr val="000000"/>
                </a:solidFill>
                <a:latin typeface="Crimson Roman"/>
                <a:ea typeface="Crimson Roman"/>
                <a:cs typeface="Crimson Roman"/>
                <a:sym typeface="Crimson Roman"/>
              </a:rPr>
              <a:t>e but</a:t>
            </a:r>
            <a:r>
              <a:rPr lang="en-US" sz="2499">
                <a:solidFill>
                  <a:srgbClr val="000000"/>
                </a:solidFill>
                <a:latin typeface="Crimson Roman"/>
                <a:ea typeface="Crimson Roman"/>
                <a:cs typeface="Crimson Roman"/>
                <a:sym typeface="Crimson Roman"/>
              </a:rPr>
              <a:t> ranks last in average vote count among top genres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Adventure excels in both popularity and vote count, making it the most engaging genre overall</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Science Fiction achieves top-tier engagement despite moderate catalog size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Genre and popularity are not strongly correlated: high genre volume does not guarantee high average popularity scores</a:t>
            </a:r>
          </a:p>
          <a:p>
            <a:pPr algn="just">
              <a:lnSpc>
                <a:spcPts val="4999"/>
              </a:lnSpc>
            </a:pPr>
            <a:r>
              <a:rPr lang="en-US" b="true" sz="2499">
                <a:solidFill>
                  <a:srgbClr val="000000"/>
                </a:solidFill>
                <a:latin typeface="Crimson Roman Bold"/>
                <a:ea typeface="Crimson Roman Bold"/>
                <a:cs typeface="Crimson Roman Bold"/>
                <a:sym typeface="Crimson Roman Bold"/>
              </a:rPr>
              <a:t>Implications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High-volume genres like Drama may suffer from content dilution; quality filtering could improve engagement</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Adventure and Sci-Fi titles are strong candidates for featured promotion and algorithmic boosting</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Low-popularity genres like Horror serve loyal niche audiences and may benefit from targeted recommendation</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Tracking popularity trends by genre over time can help identify emerging genres before they peak, supporting proactive catalog investment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895350"/>
            <a:ext cx="8625019" cy="4432300"/>
          </a:xfrm>
          <a:prstGeom prst="rect">
            <a:avLst/>
          </a:prstGeom>
        </p:spPr>
        <p:txBody>
          <a:bodyPr anchor="t" rtlCol="false" tIns="0" lIns="0" bIns="0" rIns="0">
            <a:spAutoFit/>
          </a:bodyPr>
          <a:lstStyle/>
          <a:p>
            <a:pPr algn="just">
              <a:lnSpc>
                <a:spcPts val="10999"/>
              </a:lnSpc>
            </a:pPr>
            <a:r>
              <a:rPr lang="en-US" sz="9999">
                <a:solidFill>
                  <a:srgbClr val="1F77B3"/>
                </a:solidFill>
                <a:latin typeface="Crimson Roman"/>
                <a:ea typeface="Crimson Roman"/>
                <a:cs typeface="Crimson Roman"/>
                <a:sym typeface="Crimson Roman"/>
              </a:rPr>
              <a:t>Average Popularity </a:t>
            </a:r>
          </a:p>
          <a:p>
            <a:pPr algn="just" marL="0" indent="0" lvl="0">
              <a:lnSpc>
                <a:spcPts val="10999"/>
              </a:lnSpc>
            </a:pPr>
            <a:r>
              <a:rPr lang="en-US" sz="9999">
                <a:solidFill>
                  <a:srgbClr val="1F77B3"/>
                </a:solidFill>
                <a:latin typeface="Crimson Roman"/>
                <a:ea typeface="Crimson Roman"/>
                <a:cs typeface="Crimson Roman"/>
                <a:sym typeface="Crimson Roman"/>
              </a:rPr>
              <a:t>by Language</a:t>
            </a:r>
          </a:p>
        </p:txBody>
      </p:sp>
      <p:sp>
        <p:nvSpPr>
          <p:cNvPr name="Freeform 3" id="3"/>
          <p:cNvSpPr/>
          <p:nvPr/>
        </p:nvSpPr>
        <p:spPr>
          <a:xfrm flipH="false" flipV="false" rot="0">
            <a:off x="9653719" y="2291407"/>
            <a:ext cx="7605581" cy="5704186"/>
          </a:xfrm>
          <a:custGeom>
            <a:avLst/>
            <a:gdLst/>
            <a:ahLst/>
            <a:cxnLst/>
            <a:rect r="r" b="b" t="t" l="l"/>
            <a:pathLst>
              <a:path h="5704186" w="7605581">
                <a:moveTo>
                  <a:pt x="0" y="0"/>
                </a:moveTo>
                <a:lnTo>
                  <a:pt x="7605581" y="0"/>
                </a:lnTo>
                <a:lnTo>
                  <a:pt x="7605581" y="5704186"/>
                </a:lnTo>
                <a:lnTo>
                  <a:pt x="0" y="5704186"/>
                </a:lnTo>
                <a:lnTo>
                  <a:pt x="0" y="0"/>
                </a:lnTo>
                <a:close/>
              </a:path>
            </a:pathLst>
          </a:custGeom>
          <a:blipFill>
            <a:blip r:embed="rId2"/>
            <a:stretch>
              <a:fillRect l="0" t="0" r="0" b="0"/>
            </a:stretch>
          </a:blipFill>
        </p:spPr>
      </p:sp>
      <p:sp>
        <p:nvSpPr>
          <p:cNvPr name="TextBox 4" id="4"/>
          <p:cNvSpPr txBox="true"/>
          <p:nvPr/>
        </p:nvSpPr>
        <p:spPr>
          <a:xfrm rot="0">
            <a:off x="1028700" y="5080000"/>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Malayal</a:t>
            </a:r>
            <a:r>
              <a:rPr lang="en-US" sz="2499">
                <a:solidFill>
                  <a:srgbClr val="000000"/>
                </a:solidFill>
                <a:latin typeface="Crimson Roman"/>
                <a:ea typeface="Crimson Roman"/>
                <a:cs typeface="Crimson Roman"/>
                <a:sym typeface="Crimson Roman"/>
              </a:rPr>
              <a:t>am (ML) content achieves dramatically higher average popularity (~150) than all other languages, which nearly doubles that of Hindi (HI) at ~86, and more than double Turkish (TR) at ~71. English (EN) ranks only sixth (~42), suggesting non-English content punches well above its catalog weight in audience interest.</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895350"/>
            <a:ext cx="13422789"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Findings &amp; Implications</a:t>
            </a:r>
          </a:p>
        </p:txBody>
      </p:sp>
      <p:sp>
        <p:nvSpPr>
          <p:cNvPr name="TextBox 3" id="3"/>
          <p:cNvSpPr txBox="true"/>
          <p:nvPr/>
        </p:nvSpPr>
        <p:spPr>
          <a:xfrm rot="0">
            <a:off x="1028700" y="2493962"/>
            <a:ext cx="16230600" cy="5051425"/>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Findings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Malayalam (ML) content achieves the highest average popularity by a wide margin (~150 vs</a:t>
            </a:r>
            <a:r>
              <a:rPr lang="en-US" sz="2499">
                <a:solidFill>
                  <a:srgbClr val="000000"/>
                </a:solidFill>
                <a:latin typeface="Crimson Roman"/>
                <a:ea typeface="Crimson Roman"/>
                <a:cs typeface="Crimson Roman"/>
                <a:sym typeface="Crimson Roman"/>
              </a:rPr>
              <a:t> ~86</a:t>
            </a:r>
            <a:r>
              <a:rPr lang="en-US" sz="2499">
                <a:solidFill>
                  <a:srgbClr val="000000"/>
                </a:solidFill>
                <a:latin typeface="Crimson Roman"/>
                <a:ea typeface="Crimson Roman"/>
                <a:cs typeface="Crimson Roman"/>
                <a:sym typeface="Crimson Roman"/>
              </a:rPr>
              <a:t> for Hindi)</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English dominates in total title volume (~7,500), but ranks only 6th in average popularity</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Japanese content is the second most represented language (~600 titles) after English</a:t>
            </a:r>
          </a:p>
          <a:p>
            <a:pPr algn="just">
              <a:lnSpc>
                <a:spcPts val="4999"/>
              </a:lnSpc>
            </a:pPr>
            <a:r>
              <a:rPr lang="en-US" b="true" sz="2499">
                <a:solidFill>
                  <a:srgbClr val="000000"/>
                </a:solidFill>
                <a:latin typeface="Crimson Roman Bold"/>
                <a:ea typeface="Crimson Roman Bold"/>
                <a:cs typeface="Crimson Roman Bold"/>
                <a:sym typeface="Crimson Roman Bold"/>
              </a:rPr>
              <a:t>Implications</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N</a:t>
            </a:r>
            <a:r>
              <a:rPr lang="en-US" sz="2499">
                <a:solidFill>
                  <a:srgbClr val="000000"/>
                </a:solidFill>
                <a:latin typeface="Crimson Roman"/>
                <a:ea typeface="Crimson Roman"/>
                <a:cs typeface="Crimson Roman"/>
                <a:sym typeface="Crimson Roman"/>
              </a:rPr>
              <a:t>on-English content, especially South Asian and Southeast Asian, generates outsized popularity relative to catalog size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Investing in Malayalam, Hindi, and Turkish originals could yield high popularity returns at lower production scale</a:t>
            </a:r>
          </a:p>
          <a:p>
            <a:pPr algn="just" marL="539749" indent="-269875" lvl="1">
              <a:lnSpc>
                <a:spcPts val="4999"/>
              </a:lnSpc>
              <a:buFont typeface="Arial"/>
              <a:buChar char="•"/>
            </a:pPr>
            <a:r>
              <a:rPr lang="en-US" sz="2499">
                <a:solidFill>
                  <a:srgbClr val="000000"/>
                </a:solidFill>
                <a:latin typeface="Crimson Roman"/>
                <a:ea typeface="Crimson Roman"/>
                <a:cs typeface="Crimson Roman"/>
                <a:sym typeface="Crimson Roman"/>
              </a:rPr>
              <a:t>English-language dominance in volume may suppress its own average popularity metric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196347"/>
            <a:ext cx="6429375" cy="4114800"/>
          </a:xfrm>
          <a:custGeom>
            <a:avLst/>
            <a:gdLst/>
            <a:ahLst/>
            <a:cxnLst/>
            <a:rect r="r" b="b" t="t" l="l"/>
            <a:pathLst>
              <a:path h="4114800" w="6429375">
                <a:moveTo>
                  <a:pt x="0" y="0"/>
                </a:moveTo>
                <a:lnTo>
                  <a:pt x="6429375" y="0"/>
                </a:lnTo>
                <a:lnTo>
                  <a:pt x="64293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977993" y="4046295"/>
            <a:ext cx="7758428" cy="1207452"/>
          </a:xfrm>
          <a:prstGeom prst="rect">
            <a:avLst/>
          </a:prstGeom>
        </p:spPr>
        <p:txBody>
          <a:bodyPr anchor="t" rtlCol="false" tIns="0" lIns="0" bIns="0" rIns="0">
            <a:spAutoFit/>
          </a:bodyPr>
          <a:lstStyle/>
          <a:p>
            <a:pPr algn="l">
              <a:lnSpc>
                <a:spcPts val="8057"/>
              </a:lnSpc>
            </a:pPr>
            <a:r>
              <a:rPr lang="en-US" sz="7325">
                <a:solidFill>
                  <a:srgbClr val="1F77B3"/>
                </a:solidFill>
                <a:latin typeface="Crimson Roman"/>
                <a:ea typeface="Crimson Roman"/>
                <a:cs typeface="Crimson Roman"/>
                <a:sym typeface="Crimson Roman"/>
              </a:rPr>
              <a:t>Additional Analysis</a:t>
            </a:r>
          </a:p>
        </p:txBody>
      </p:sp>
      <p:sp>
        <p:nvSpPr>
          <p:cNvPr name="TextBox 4" id="4"/>
          <p:cNvSpPr txBox="true"/>
          <p:nvPr/>
        </p:nvSpPr>
        <p:spPr>
          <a:xfrm rot="0">
            <a:off x="8977993" y="5969719"/>
            <a:ext cx="7758428" cy="998220"/>
          </a:xfrm>
          <a:prstGeom prst="rect">
            <a:avLst/>
          </a:prstGeom>
        </p:spPr>
        <p:txBody>
          <a:bodyPr anchor="t" rtlCol="false" tIns="0" lIns="0" bIns="0" rIns="0">
            <a:spAutoFit/>
          </a:bodyPr>
          <a:lstStyle/>
          <a:p>
            <a:pPr algn="l" marL="0" indent="0" lvl="0">
              <a:lnSpc>
                <a:spcPts val="3779"/>
              </a:lnSpc>
              <a:spcBef>
                <a:spcPct val="0"/>
              </a:spcBef>
            </a:pPr>
            <a:r>
              <a:rPr lang="en-US" sz="2700">
                <a:solidFill>
                  <a:srgbClr val="000000"/>
                </a:solidFill>
                <a:latin typeface="Crimson Roman"/>
                <a:ea typeface="Crimson Roman"/>
                <a:cs typeface="Crimson Roman"/>
                <a:sym typeface="Crimson Roman"/>
              </a:rPr>
              <a:t>Ex</a:t>
            </a:r>
            <a:r>
              <a:rPr lang="en-US" sz="2700">
                <a:solidFill>
                  <a:srgbClr val="000000"/>
                </a:solidFill>
                <a:latin typeface="Crimson Roman"/>
                <a:ea typeface="Crimson Roman"/>
                <a:cs typeface="Crimson Roman"/>
                <a:sym typeface="Crimson Roman"/>
              </a:rPr>
              <a:t>tended findings on audience vote patterns, language-level engagement, and cross-variable relationships.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53719" y="2291407"/>
            <a:ext cx="7605581" cy="5704186"/>
          </a:xfrm>
          <a:custGeom>
            <a:avLst/>
            <a:gdLst/>
            <a:ahLst/>
            <a:cxnLst/>
            <a:rect r="r" b="b" t="t" l="l"/>
            <a:pathLst>
              <a:path h="5704186" w="7605581">
                <a:moveTo>
                  <a:pt x="0" y="0"/>
                </a:moveTo>
                <a:lnTo>
                  <a:pt x="7605581" y="0"/>
                </a:lnTo>
                <a:lnTo>
                  <a:pt x="7605581" y="5704186"/>
                </a:lnTo>
                <a:lnTo>
                  <a:pt x="0" y="5704186"/>
                </a:lnTo>
                <a:lnTo>
                  <a:pt x="0" y="0"/>
                </a:lnTo>
                <a:close/>
              </a:path>
            </a:pathLst>
          </a:custGeom>
          <a:blipFill>
            <a:blip r:embed="rId2"/>
            <a:stretch>
              <a:fillRect l="0" t="0" r="0" b="0"/>
            </a:stretch>
          </a:blipFill>
        </p:spPr>
      </p:sp>
      <p:sp>
        <p:nvSpPr>
          <p:cNvPr name="TextBox 3" id="3"/>
          <p:cNvSpPr txBox="true"/>
          <p:nvPr/>
        </p:nvSpPr>
        <p:spPr>
          <a:xfrm rot="0">
            <a:off x="1028700" y="895350"/>
            <a:ext cx="8625019" cy="304165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Movie Count by Language</a:t>
            </a:r>
          </a:p>
        </p:txBody>
      </p:sp>
      <p:sp>
        <p:nvSpPr>
          <p:cNvPr name="TextBox 4" id="4"/>
          <p:cNvSpPr txBox="true"/>
          <p:nvPr/>
        </p:nvSpPr>
        <p:spPr>
          <a:xfrm rot="0">
            <a:off x="1028700" y="5080000"/>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English</a:t>
            </a:r>
            <a:r>
              <a:rPr lang="en-US" sz="2499">
                <a:solidFill>
                  <a:srgbClr val="000000"/>
                </a:solidFill>
                <a:latin typeface="Crimson Roman"/>
                <a:ea typeface="Crimson Roman"/>
                <a:cs typeface="Crimson Roman"/>
                <a:sym typeface="Crimson Roman"/>
              </a:rPr>
              <a:t> (EN) content accounts for ~7,500 titles, which is more than 12 times the next largest language, Japanese (JA) at ~600. Spanish (ES) and French (FR) follow at ~350 and ~280. The remaining languages each account for under 200 titles, highlighting the heavily English-centric nature of the Netflix catalog.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653719" y="3874319"/>
            <a:ext cx="7605581" cy="2538363"/>
          </a:xfrm>
          <a:custGeom>
            <a:avLst/>
            <a:gdLst/>
            <a:ahLst/>
            <a:cxnLst/>
            <a:rect r="r" b="b" t="t" l="l"/>
            <a:pathLst>
              <a:path h="2538363" w="7605581">
                <a:moveTo>
                  <a:pt x="0" y="0"/>
                </a:moveTo>
                <a:lnTo>
                  <a:pt x="7605581" y="0"/>
                </a:lnTo>
                <a:lnTo>
                  <a:pt x="7605581" y="2538362"/>
                </a:lnTo>
                <a:lnTo>
                  <a:pt x="0" y="2538362"/>
                </a:lnTo>
                <a:lnTo>
                  <a:pt x="0" y="0"/>
                </a:lnTo>
                <a:close/>
              </a:path>
            </a:pathLst>
          </a:custGeom>
          <a:blipFill>
            <a:blip r:embed="rId2"/>
            <a:stretch>
              <a:fillRect l="0" t="0" r="0" b="0"/>
            </a:stretch>
          </a:blipFill>
        </p:spPr>
      </p:sp>
      <p:sp>
        <p:nvSpPr>
          <p:cNvPr name="TextBox 3" id="3"/>
          <p:cNvSpPr txBox="true"/>
          <p:nvPr/>
        </p:nvSpPr>
        <p:spPr>
          <a:xfrm rot="0">
            <a:off x="1028700" y="895350"/>
            <a:ext cx="8625019" cy="4432300"/>
          </a:xfrm>
          <a:prstGeom prst="rect">
            <a:avLst/>
          </a:prstGeom>
        </p:spPr>
        <p:txBody>
          <a:bodyPr anchor="t" rtlCol="false" tIns="0" lIns="0" bIns="0" rIns="0">
            <a:spAutoFit/>
          </a:bodyPr>
          <a:lstStyle/>
          <a:p>
            <a:pPr algn="just">
              <a:lnSpc>
                <a:spcPts val="10999"/>
              </a:lnSpc>
            </a:pPr>
            <a:r>
              <a:rPr lang="en-US" sz="9999">
                <a:solidFill>
                  <a:srgbClr val="1F77B3"/>
                </a:solidFill>
                <a:latin typeface="Crimson Roman"/>
                <a:ea typeface="Crimson Roman"/>
                <a:cs typeface="Crimson Roman"/>
                <a:sym typeface="Crimson Roman"/>
              </a:rPr>
              <a:t>Average </a:t>
            </a:r>
          </a:p>
          <a:p>
            <a:pPr algn="just">
              <a:lnSpc>
                <a:spcPts val="10999"/>
              </a:lnSpc>
            </a:pPr>
            <a:r>
              <a:rPr lang="en-US" sz="9999">
                <a:solidFill>
                  <a:srgbClr val="1F77B3"/>
                </a:solidFill>
                <a:latin typeface="Crimson Roman"/>
                <a:ea typeface="Crimson Roman"/>
                <a:cs typeface="Crimson Roman"/>
                <a:sym typeface="Crimson Roman"/>
              </a:rPr>
              <a:t>Vote Count </a:t>
            </a:r>
          </a:p>
          <a:p>
            <a:pPr algn="just" marL="0" indent="0" lvl="0">
              <a:lnSpc>
                <a:spcPts val="10999"/>
              </a:lnSpc>
            </a:pPr>
            <a:r>
              <a:rPr lang="en-US" sz="9999">
                <a:solidFill>
                  <a:srgbClr val="1F77B3"/>
                </a:solidFill>
                <a:latin typeface="Crimson Roman"/>
                <a:ea typeface="Crimson Roman"/>
                <a:cs typeface="Crimson Roman"/>
                <a:sym typeface="Crimson Roman"/>
              </a:rPr>
              <a:t>by Language</a:t>
            </a:r>
          </a:p>
        </p:txBody>
      </p:sp>
      <p:sp>
        <p:nvSpPr>
          <p:cNvPr name="TextBox 4" id="4"/>
          <p:cNvSpPr txBox="true"/>
          <p:nvPr/>
        </p:nvSpPr>
        <p:spPr>
          <a:xfrm rot="0">
            <a:off x="1028700" y="5080000"/>
            <a:ext cx="8115300" cy="4408488"/>
          </a:xfrm>
          <a:prstGeom prst="rect">
            <a:avLst/>
          </a:prstGeom>
        </p:spPr>
        <p:txBody>
          <a:bodyPr anchor="t" rtlCol="false" tIns="0" lIns="0" bIns="0" rIns="0">
            <a:spAutoFit/>
          </a:bodyPr>
          <a:lstStyle/>
          <a:p>
            <a:pPr algn="just">
              <a:lnSpc>
                <a:spcPts val="4999"/>
              </a:lnSpc>
            </a:pPr>
            <a:r>
              <a:rPr lang="en-US" sz="2499" b="true">
                <a:solidFill>
                  <a:srgbClr val="000000"/>
                </a:solidFill>
                <a:latin typeface="Crimson Roman Bold"/>
                <a:ea typeface="Crimson Roman Bold"/>
                <a:cs typeface="Crimson Roman Bold"/>
                <a:sym typeface="Crimson Roman Bold"/>
              </a:rPr>
              <a:t>Key Insight</a:t>
            </a:r>
          </a:p>
          <a:p>
            <a:pPr algn="just">
              <a:lnSpc>
                <a:spcPts val="4999"/>
              </a:lnSpc>
            </a:pPr>
            <a:r>
              <a:rPr lang="en-US" sz="2499">
                <a:solidFill>
                  <a:srgbClr val="000000"/>
                </a:solidFill>
                <a:latin typeface="Crimson Roman"/>
                <a:ea typeface="Crimson Roman"/>
                <a:cs typeface="Crimson Roman"/>
                <a:sym typeface="Crimson Roman"/>
              </a:rPr>
              <a:t>English</a:t>
            </a:r>
            <a:r>
              <a:rPr lang="en-US" sz="2499">
                <a:solidFill>
                  <a:srgbClr val="000000"/>
                </a:solidFill>
                <a:latin typeface="Crimson Roman"/>
                <a:ea typeface="Crimson Roman"/>
                <a:cs typeface="Crimson Roman"/>
                <a:sym typeface="Crimson Roman"/>
              </a:rPr>
              <a:t> (EN) leads in average vote count (~1,670), followed by Norwegian (NB) at ~1,240 and Latin (LA) at ~920. Arabic (AR), Italian (IT), Swedish (SV), and French (FR) cluster closely between ~680–700. The pattern suggests that English-language titles benefit from a much larger global voter base, inflating their average engagement metrics.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33293" y="1473301"/>
            <a:ext cx="12421413" cy="1093152"/>
          </a:xfrm>
          <a:prstGeom prst="rect">
            <a:avLst/>
          </a:prstGeom>
        </p:spPr>
        <p:txBody>
          <a:bodyPr anchor="t" rtlCol="false" tIns="0" lIns="0" bIns="0" rIns="0">
            <a:spAutoFit/>
          </a:bodyPr>
          <a:lstStyle/>
          <a:p>
            <a:pPr algn="ctr" marL="0" indent="0" lvl="0">
              <a:lnSpc>
                <a:spcPts val="7232"/>
              </a:lnSpc>
            </a:pPr>
            <a:r>
              <a:rPr lang="en-US" sz="6575">
                <a:solidFill>
                  <a:srgbClr val="1F77B3"/>
                </a:solidFill>
                <a:latin typeface="Crimson Roman"/>
                <a:ea typeface="Crimson Roman"/>
                <a:cs typeface="Crimson Roman"/>
                <a:sym typeface="Crimson Roman"/>
              </a:rPr>
              <a:t>Cr</a:t>
            </a:r>
            <a:r>
              <a:rPr lang="en-US" sz="6575">
                <a:solidFill>
                  <a:srgbClr val="1F77B3"/>
                </a:solidFill>
                <a:latin typeface="Crimson Roman"/>
                <a:ea typeface="Crimson Roman"/>
                <a:cs typeface="Crimson Roman"/>
                <a:sym typeface="Crimson Roman"/>
              </a:rPr>
              <a:t>oss-Variable Relationships</a:t>
            </a:r>
          </a:p>
        </p:txBody>
      </p:sp>
      <p:sp>
        <p:nvSpPr>
          <p:cNvPr name="TextBox 3" id="3"/>
          <p:cNvSpPr txBox="true"/>
          <p:nvPr/>
        </p:nvSpPr>
        <p:spPr>
          <a:xfrm rot="0">
            <a:off x="3831365" y="4128257"/>
            <a:ext cx="4011474" cy="136525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Crimson Roman"/>
                <a:ea typeface="Crimson Roman"/>
                <a:cs typeface="Crimson Roman"/>
                <a:sym typeface="Crimson Roman"/>
              </a:rPr>
              <a:t>High-volume genres (Drama, Comedy) do not correlate with high popularity or vote counts</a:t>
            </a:r>
          </a:p>
        </p:txBody>
      </p:sp>
      <p:sp>
        <p:nvSpPr>
          <p:cNvPr name="Freeform 4" id="4"/>
          <p:cNvSpPr/>
          <p:nvPr/>
        </p:nvSpPr>
        <p:spPr>
          <a:xfrm flipH="false" flipV="false" rot="0">
            <a:off x="2933293" y="4287947"/>
            <a:ext cx="405313" cy="394996"/>
          </a:xfrm>
          <a:custGeom>
            <a:avLst/>
            <a:gdLst/>
            <a:ahLst/>
            <a:cxnLst/>
            <a:rect r="r" b="b" t="t" l="l"/>
            <a:pathLst>
              <a:path h="394996" w="405313">
                <a:moveTo>
                  <a:pt x="0" y="0"/>
                </a:moveTo>
                <a:lnTo>
                  <a:pt x="405314" y="0"/>
                </a:lnTo>
                <a:lnTo>
                  <a:pt x="405314"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925278" y="7121580"/>
            <a:ext cx="4011474" cy="180340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No</a:t>
            </a:r>
            <a:r>
              <a:rPr lang="en-US" sz="2500">
                <a:solidFill>
                  <a:srgbClr val="000000"/>
                </a:solidFill>
                <a:latin typeface="Crimson Roman"/>
                <a:ea typeface="Crimson Roman"/>
                <a:cs typeface="Crimson Roman"/>
                <a:sym typeface="Crimson Roman"/>
              </a:rPr>
              <a:t>n-English languages with small catalogs (ML, HI) outperform English in average popularity</a:t>
            </a:r>
          </a:p>
        </p:txBody>
      </p:sp>
      <p:sp>
        <p:nvSpPr>
          <p:cNvPr name="Freeform 6" id="6"/>
          <p:cNvSpPr/>
          <p:nvPr/>
        </p:nvSpPr>
        <p:spPr>
          <a:xfrm flipH="false" flipV="false" rot="0">
            <a:off x="1027206" y="7281270"/>
            <a:ext cx="405313" cy="394996"/>
          </a:xfrm>
          <a:custGeom>
            <a:avLst/>
            <a:gdLst/>
            <a:ahLst/>
            <a:cxnLst/>
            <a:rect r="r" b="b" t="t" l="l"/>
            <a:pathLst>
              <a:path h="394996" w="405313">
                <a:moveTo>
                  <a:pt x="0" y="0"/>
                </a:moveTo>
                <a:lnTo>
                  <a:pt x="405314" y="0"/>
                </a:lnTo>
                <a:lnTo>
                  <a:pt x="405314"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1343232" y="4128257"/>
            <a:ext cx="4011474" cy="136525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Adven</a:t>
            </a:r>
            <a:r>
              <a:rPr lang="en-US" sz="2500">
                <a:solidFill>
                  <a:srgbClr val="000000"/>
                </a:solidFill>
                <a:latin typeface="Crimson Roman"/>
                <a:ea typeface="Crimson Roman"/>
                <a:cs typeface="Crimson Roman"/>
                <a:sym typeface="Crimson Roman"/>
              </a:rPr>
              <a:t>ture and Sci-Fi show the strongest pairing of popularity AND vote engagement</a:t>
            </a:r>
          </a:p>
        </p:txBody>
      </p:sp>
      <p:sp>
        <p:nvSpPr>
          <p:cNvPr name="Freeform 8" id="8"/>
          <p:cNvSpPr/>
          <p:nvPr/>
        </p:nvSpPr>
        <p:spPr>
          <a:xfrm flipH="false" flipV="false" rot="0">
            <a:off x="10445161" y="4287947"/>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587299" y="7148622"/>
            <a:ext cx="4011474" cy="180340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E</a:t>
            </a:r>
            <a:r>
              <a:rPr lang="en-US" sz="2500">
                <a:solidFill>
                  <a:srgbClr val="000000"/>
                </a:solidFill>
                <a:latin typeface="Crimson Roman"/>
                <a:ea typeface="Crimson Roman"/>
                <a:cs typeface="Crimson Roman"/>
                <a:sym typeface="Crimson Roman"/>
              </a:rPr>
              <a:t>nglish-language content's large volume inflates total vote counts but dilutes average popularity</a:t>
            </a:r>
          </a:p>
        </p:txBody>
      </p:sp>
      <p:sp>
        <p:nvSpPr>
          <p:cNvPr name="Freeform 10" id="10"/>
          <p:cNvSpPr/>
          <p:nvPr/>
        </p:nvSpPr>
        <p:spPr>
          <a:xfrm flipH="false" flipV="false" rot="0">
            <a:off x="6689227" y="7262922"/>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2432606" y="2638308"/>
            <a:ext cx="13422789" cy="636588"/>
          </a:xfrm>
          <a:prstGeom prst="rect">
            <a:avLst/>
          </a:prstGeom>
        </p:spPr>
        <p:txBody>
          <a:bodyPr anchor="t" rtlCol="false" tIns="0" lIns="0" bIns="0" rIns="0">
            <a:spAutoFit/>
          </a:bodyPr>
          <a:lstStyle/>
          <a:p>
            <a:pPr algn="ctr">
              <a:lnSpc>
                <a:spcPts val="4999"/>
              </a:lnSpc>
            </a:pPr>
            <a:r>
              <a:rPr lang="en-US" b="true" sz="2499">
                <a:solidFill>
                  <a:srgbClr val="1F77B3"/>
                </a:solidFill>
                <a:latin typeface="Crimson Roman Bold"/>
                <a:ea typeface="Crimson Roman Bold"/>
                <a:cs typeface="Crimson Roman Bold"/>
                <a:sym typeface="Crimson Roman Bold"/>
              </a:rPr>
              <a:t>Corre</a:t>
            </a:r>
            <a:r>
              <a:rPr lang="en-US" b="true" sz="2499">
                <a:solidFill>
                  <a:srgbClr val="1F77B3"/>
                </a:solidFill>
                <a:latin typeface="Crimson Roman Bold"/>
                <a:ea typeface="Crimson Roman Bold"/>
                <a:cs typeface="Crimson Roman Bold"/>
                <a:sym typeface="Crimson Roman Bold"/>
              </a:rPr>
              <a:t>lation Summary – Variable Interactions</a:t>
            </a:r>
          </a:p>
        </p:txBody>
      </p:sp>
      <p:sp>
        <p:nvSpPr>
          <p:cNvPr name="TextBox 12" id="12"/>
          <p:cNvSpPr txBox="true"/>
          <p:nvPr/>
        </p:nvSpPr>
        <p:spPr>
          <a:xfrm rot="0">
            <a:off x="13247826" y="7135101"/>
            <a:ext cx="4011474" cy="224155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These</a:t>
            </a:r>
            <a:r>
              <a:rPr lang="en-US" sz="2500">
                <a:solidFill>
                  <a:srgbClr val="000000"/>
                </a:solidFill>
                <a:latin typeface="Crimson Roman"/>
                <a:ea typeface="Crimson Roman"/>
                <a:cs typeface="Crimson Roman"/>
                <a:sym typeface="Crimson Roman"/>
              </a:rPr>
              <a:t> patterns suggest a combined model using Genre, Language, and Vote Count would be predictive of Popularity</a:t>
            </a:r>
          </a:p>
        </p:txBody>
      </p:sp>
      <p:sp>
        <p:nvSpPr>
          <p:cNvPr name="Freeform 13" id="13"/>
          <p:cNvSpPr/>
          <p:nvPr/>
        </p:nvSpPr>
        <p:spPr>
          <a:xfrm flipH="false" flipV="false" rot="0">
            <a:off x="12349754" y="7249401"/>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251325"/>
            <a:ext cx="7927032"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Discussion</a:t>
            </a:r>
          </a:p>
        </p:txBody>
      </p:sp>
      <p:sp>
        <p:nvSpPr>
          <p:cNvPr name="TextBox 3" id="3"/>
          <p:cNvSpPr txBox="true"/>
          <p:nvPr/>
        </p:nvSpPr>
        <p:spPr>
          <a:xfrm rot="0">
            <a:off x="8955732" y="1491615"/>
            <a:ext cx="7758428" cy="7189470"/>
          </a:xfrm>
          <a:prstGeom prst="rect">
            <a:avLst/>
          </a:prstGeom>
        </p:spPr>
        <p:txBody>
          <a:bodyPr anchor="t" rtlCol="false" tIns="0" lIns="0" bIns="0" rIns="0">
            <a:spAutoFit/>
          </a:bodyPr>
          <a:lstStyle/>
          <a:p>
            <a:pPr algn="l" marL="0" indent="0" lvl="0">
              <a:lnSpc>
                <a:spcPts val="3779"/>
              </a:lnSpc>
              <a:spcBef>
                <a:spcPct val="0"/>
              </a:spcBef>
            </a:pPr>
            <a:r>
              <a:rPr lang="en-US" sz="2700">
                <a:solidFill>
                  <a:srgbClr val="000000"/>
                </a:solidFill>
                <a:latin typeface="Crimson Roman"/>
                <a:ea typeface="Crimson Roman"/>
                <a:cs typeface="Crimson Roman"/>
                <a:sym typeface="Crimson Roman"/>
              </a:rPr>
              <a:t>This analysis reveals that Netflix con</a:t>
            </a:r>
            <a:r>
              <a:rPr lang="en-US" sz="2700">
                <a:solidFill>
                  <a:srgbClr val="000000"/>
                </a:solidFill>
                <a:latin typeface="Crimson Roman"/>
                <a:ea typeface="Crimson Roman"/>
                <a:cs typeface="Crimson Roman"/>
                <a:sym typeface="Crimson Roman"/>
              </a:rPr>
              <a:t>tent performance is shaped by a complex interplay of genre identity, language origin, and audience reach. High-volume genres like Drama dominate the catalog but exhibit lower per-title engagement, while niche high-energy genres like Adventure and Science Fiction generate stronger audience interest. Non-English content, particularly from South and Southeast Asia, consistently outperforms in popularity metrics despite representing a small fraction of total titles. These patterns suggest that catalog diversification, targeted promotion of high-engagement genres, and strategic investment in underrepresented language markets could significantly improve platform-wide audience satisfaction and engagement.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73364" y="942975"/>
            <a:ext cx="9341272" cy="958850"/>
          </a:xfrm>
          <a:prstGeom prst="rect">
            <a:avLst/>
          </a:prstGeom>
        </p:spPr>
        <p:txBody>
          <a:bodyPr anchor="t" rtlCol="false" tIns="0" lIns="0" bIns="0" rIns="0">
            <a:spAutoFit/>
          </a:bodyPr>
          <a:lstStyle/>
          <a:p>
            <a:pPr algn="l" marL="0" indent="0" lvl="0">
              <a:lnSpc>
                <a:spcPts val="6325"/>
              </a:lnSpc>
            </a:pPr>
            <a:r>
              <a:rPr lang="en-US" sz="5750">
                <a:solidFill>
                  <a:srgbClr val="1F77B3"/>
                </a:solidFill>
                <a:latin typeface="Crimson Roman"/>
                <a:ea typeface="Crimson Roman"/>
                <a:cs typeface="Crimson Roman"/>
                <a:sym typeface="Crimson Roman"/>
              </a:rPr>
              <a:t>O</a:t>
            </a:r>
            <a:r>
              <a:rPr lang="en-US" sz="5750">
                <a:solidFill>
                  <a:srgbClr val="1F77B3"/>
                </a:solidFill>
                <a:latin typeface="Crimson Roman"/>
                <a:ea typeface="Crimson Roman"/>
                <a:cs typeface="Crimson Roman"/>
                <a:sym typeface="Crimson Roman"/>
              </a:rPr>
              <a:t>verall Findings &amp; Implications</a:t>
            </a:r>
          </a:p>
        </p:txBody>
      </p:sp>
      <p:sp>
        <p:nvSpPr>
          <p:cNvPr name="TextBox 3" id="3"/>
          <p:cNvSpPr txBox="true"/>
          <p:nvPr/>
        </p:nvSpPr>
        <p:spPr>
          <a:xfrm rot="0">
            <a:off x="11748590" y="4137782"/>
            <a:ext cx="5510710" cy="3546475"/>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Crimson Roman"/>
                <a:ea typeface="Crimson Roman"/>
                <a:cs typeface="Crimson Roman"/>
                <a:sym typeface="Crimson Roman"/>
              </a:rPr>
              <a:t>Drama leads in volume but</a:t>
            </a:r>
            <a:r>
              <a:rPr lang="en-US" sz="2499">
                <a:solidFill>
                  <a:srgbClr val="000000"/>
                </a:solidFill>
                <a:latin typeface="Crimson Roman"/>
                <a:ea typeface="Crimson Roman"/>
                <a:cs typeface="Crimson Roman"/>
                <a:sym typeface="Crimson Roman"/>
              </a:rPr>
              <a:t> trails in per-title popularity and vote engagement</a:t>
            </a:r>
          </a:p>
          <a:p>
            <a:pPr algn="l">
              <a:lnSpc>
                <a:spcPts val="3499"/>
              </a:lnSpc>
              <a:spcBef>
                <a:spcPct val="0"/>
              </a:spcBef>
            </a:pPr>
            <a:r>
              <a:rPr lang="en-US" sz="2499">
                <a:solidFill>
                  <a:srgbClr val="000000"/>
                </a:solidFill>
                <a:latin typeface="Crimson Roman"/>
                <a:ea typeface="Crimson Roman"/>
                <a:cs typeface="Crimson Roman"/>
                <a:sym typeface="Crimson Roman"/>
              </a:rPr>
              <a:t>Adventure is the top-performing genre across both popularity and vote count metrics</a:t>
            </a:r>
          </a:p>
          <a:p>
            <a:pPr algn="l">
              <a:lnSpc>
                <a:spcPts val="3500"/>
              </a:lnSpc>
              <a:spcBef>
                <a:spcPct val="0"/>
              </a:spcBef>
            </a:pPr>
            <a:r>
              <a:rPr lang="en-US" sz="2500">
                <a:solidFill>
                  <a:srgbClr val="000000"/>
                </a:solidFill>
                <a:latin typeface="Crimson Roman"/>
                <a:ea typeface="Crimson Roman"/>
                <a:cs typeface="Crimson Roman"/>
                <a:sym typeface="Crimson Roman"/>
              </a:rPr>
              <a:t>Non-English content (ML, HI, TR) achieves disproportionately high popularity scores relative to catalog size</a:t>
            </a:r>
          </a:p>
        </p:txBody>
      </p:sp>
      <p:sp>
        <p:nvSpPr>
          <p:cNvPr name="TextBox 4" id="4"/>
          <p:cNvSpPr txBox="true"/>
          <p:nvPr/>
        </p:nvSpPr>
        <p:spPr>
          <a:xfrm rot="0">
            <a:off x="11748590" y="3498093"/>
            <a:ext cx="4011474" cy="400050"/>
          </a:xfrm>
          <a:prstGeom prst="rect">
            <a:avLst/>
          </a:prstGeom>
        </p:spPr>
        <p:txBody>
          <a:bodyPr anchor="t" rtlCol="false" tIns="0" lIns="0" bIns="0" rIns="0">
            <a:spAutoFit/>
          </a:bodyPr>
          <a:lstStyle/>
          <a:p>
            <a:pPr algn="l" marL="0" indent="0" lvl="0">
              <a:lnSpc>
                <a:spcPts val="2760"/>
              </a:lnSpc>
            </a:pPr>
            <a:r>
              <a:rPr lang="en-US" sz="2300">
                <a:solidFill>
                  <a:srgbClr val="000000"/>
                </a:solidFill>
                <a:latin typeface="Crimson Roman"/>
                <a:ea typeface="Crimson Roman"/>
                <a:cs typeface="Crimson Roman"/>
                <a:sym typeface="Crimson Roman"/>
              </a:rPr>
              <a:t>FIND</a:t>
            </a:r>
            <a:r>
              <a:rPr lang="en-US" sz="2300">
                <a:solidFill>
                  <a:srgbClr val="000000"/>
                </a:solidFill>
                <a:latin typeface="Crimson Roman"/>
                <a:ea typeface="Crimson Roman"/>
                <a:cs typeface="Crimson Roman"/>
                <a:sym typeface="Crimson Roman"/>
              </a:rPr>
              <a:t>INGS</a:t>
            </a:r>
          </a:p>
        </p:txBody>
      </p:sp>
      <p:sp>
        <p:nvSpPr>
          <p:cNvPr name="Freeform 5" id="5"/>
          <p:cNvSpPr/>
          <p:nvPr/>
        </p:nvSpPr>
        <p:spPr>
          <a:xfrm flipH="false" flipV="false" rot="0">
            <a:off x="10850518" y="3600632"/>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26771" y="4137782"/>
            <a:ext cx="5510710" cy="3984625"/>
          </a:xfrm>
          <a:prstGeom prst="rect">
            <a:avLst/>
          </a:prstGeom>
        </p:spPr>
        <p:txBody>
          <a:bodyPr anchor="t" rtlCol="false" tIns="0" lIns="0" bIns="0" rIns="0">
            <a:spAutoFit/>
          </a:bodyPr>
          <a:lstStyle/>
          <a:p>
            <a:pPr algn="l">
              <a:lnSpc>
                <a:spcPts val="3499"/>
              </a:lnSpc>
            </a:pPr>
            <a:r>
              <a:rPr lang="en-US" sz="2499">
                <a:solidFill>
                  <a:srgbClr val="000000"/>
                </a:solidFill>
                <a:latin typeface="Crimson Roman"/>
                <a:ea typeface="Crimson Roman"/>
                <a:cs typeface="Crimson Roman"/>
                <a:sym typeface="Crimson Roman"/>
              </a:rPr>
              <a:t>Content</a:t>
            </a:r>
            <a:r>
              <a:rPr lang="en-US" sz="2499">
                <a:solidFill>
                  <a:srgbClr val="000000"/>
                </a:solidFill>
                <a:latin typeface="Crimson Roman"/>
                <a:ea typeface="Crimson Roman"/>
                <a:cs typeface="Crimson Roman"/>
                <a:sym typeface="Crimson Roman"/>
              </a:rPr>
              <a:t> strategy should balance volume with engagement quality, which is more titles do not guarantee more popularity</a:t>
            </a:r>
          </a:p>
          <a:p>
            <a:pPr algn="l">
              <a:lnSpc>
                <a:spcPts val="3499"/>
              </a:lnSpc>
            </a:pPr>
            <a:r>
              <a:rPr lang="en-US" sz="2499">
                <a:solidFill>
                  <a:srgbClr val="000000"/>
                </a:solidFill>
                <a:latin typeface="Crimson Roman"/>
                <a:ea typeface="Crimson Roman"/>
                <a:cs typeface="Crimson Roman"/>
                <a:sym typeface="Crimson Roman"/>
              </a:rPr>
              <a:t>Investment in Adventure, Sci-Fi, and international originals offers the highest expected engagement return</a:t>
            </a:r>
          </a:p>
          <a:p>
            <a:pPr algn="l">
              <a:lnSpc>
                <a:spcPts val="3500"/>
              </a:lnSpc>
            </a:pPr>
            <a:r>
              <a:rPr lang="en-US" sz="2500">
                <a:solidFill>
                  <a:srgbClr val="000000"/>
                </a:solidFill>
                <a:latin typeface="Crimson Roman"/>
                <a:ea typeface="Crimson Roman"/>
                <a:cs typeface="Crimson Roman"/>
                <a:sym typeface="Crimson Roman"/>
              </a:rPr>
              <a:t>Language diversity in the catalog is an underexploited lever for growing global audience popularity</a:t>
            </a:r>
          </a:p>
        </p:txBody>
      </p:sp>
      <p:sp>
        <p:nvSpPr>
          <p:cNvPr name="TextBox 7" id="7"/>
          <p:cNvSpPr txBox="true"/>
          <p:nvPr/>
        </p:nvSpPr>
        <p:spPr>
          <a:xfrm rot="0">
            <a:off x="1926771" y="3498093"/>
            <a:ext cx="4011474" cy="400050"/>
          </a:xfrm>
          <a:prstGeom prst="rect">
            <a:avLst/>
          </a:prstGeom>
        </p:spPr>
        <p:txBody>
          <a:bodyPr anchor="t" rtlCol="false" tIns="0" lIns="0" bIns="0" rIns="0">
            <a:spAutoFit/>
          </a:bodyPr>
          <a:lstStyle/>
          <a:p>
            <a:pPr algn="l" marL="0" indent="0" lvl="0">
              <a:lnSpc>
                <a:spcPts val="2760"/>
              </a:lnSpc>
            </a:pPr>
            <a:r>
              <a:rPr lang="en-US" sz="2300">
                <a:solidFill>
                  <a:srgbClr val="000000"/>
                </a:solidFill>
                <a:latin typeface="Crimson Roman"/>
                <a:ea typeface="Crimson Roman"/>
                <a:cs typeface="Crimson Roman"/>
                <a:sym typeface="Crimson Roman"/>
              </a:rPr>
              <a:t>I</a:t>
            </a:r>
            <a:r>
              <a:rPr lang="en-US" sz="2300">
                <a:solidFill>
                  <a:srgbClr val="000000"/>
                </a:solidFill>
                <a:latin typeface="Crimson Roman"/>
                <a:ea typeface="Crimson Roman"/>
                <a:cs typeface="Crimson Roman"/>
                <a:sym typeface="Crimson Roman"/>
              </a:rPr>
              <a:t>MPLICATIONS</a:t>
            </a:r>
          </a:p>
        </p:txBody>
      </p:sp>
      <p:sp>
        <p:nvSpPr>
          <p:cNvPr name="Freeform 8" id="8"/>
          <p:cNvSpPr/>
          <p:nvPr/>
        </p:nvSpPr>
        <p:spPr>
          <a:xfrm flipH="false" flipV="false" rot="0">
            <a:off x="1028700" y="3600632"/>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33293" y="1473301"/>
            <a:ext cx="12421413" cy="1093152"/>
          </a:xfrm>
          <a:prstGeom prst="rect">
            <a:avLst/>
          </a:prstGeom>
        </p:spPr>
        <p:txBody>
          <a:bodyPr anchor="t" rtlCol="false" tIns="0" lIns="0" bIns="0" rIns="0">
            <a:spAutoFit/>
          </a:bodyPr>
          <a:lstStyle/>
          <a:p>
            <a:pPr algn="ctr" marL="0" indent="0" lvl="0">
              <a:lnSpc>
                <a:spcPts val="7232"/>
              </a:lnSpc>
            </a:pPr>
            <a:r>
              <a:rPr lang="en-US" sz="6575">
                <a:solidFill>
                  <a:srgbClr val="1F77B3"/>
                </a:solidFill>
                <a:latin typeface="Crimson Roman"/>
                <a:ea typeface="Crimson Roman"/>
                <a:cs typeface="Crimson Roman"/>
                <a:sym typeface="Crimson Roman"/>
              </a:rPr>
              <a:t>Conclusion</a:t>
            </a:r>
          </a:p>
        </p:txBody>
      </p:sp>
      <p:sp>
        <p:nvSpPr>
          <p:cNvPr name="Freeform 3" id="3"/>
          <p:cNvSpPr/>
          <p:nvPr/>
        </p:nvSpPr>
        <p:spPr>
          <a:xfrm flipH="false" flipV="false" rot="0">
            <a:off x="2933293" y="4287947"/>
            <a:ext cx="405313" cy="394996"/>
          </a:xfrm>
          <a:custGeom>
            <a:avLst/>
            <a:gdLst/>
            <a:ahLst/>
            <a:cxnLst/>
            <a:rect r="r" b="b" t="t" l="l"/>
            <a:pathLst>
              <a:path h="394996" w="405313">
                <a:moveTo>
                  <a:pt x="0" y="0"/>
                </a:moveTo>
                <a:lnTo>
                  <a:pt x="405314" y="0"/>
                </a:lnTo>
                <a:lnTo>
                  <a:pt x="405314"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831365" y="7065889"/>
            <a:ext cx="4011474" cy="180340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Adven</a:t>
            </a:r>
            <a:r>
              <a:rPr lang="en-US" sz="2500">
                <a:solidFill>
                  <a:srgbClr val="000000"/>
                </a:solidFill>
                <a:latin typeface="Crimson Roman"/>
                <a:ea typeface="Crimson Roman"/>
                <a:cs typeface="Crimson Roman"/>
                <a:sym typeface="Crimson Roman"/>
              </a:rPr>
              <a:t>ture and Science Fiction are the strongest genre investments for maximizing audience engagement</a:t>
            </a:r>
          </a:p>
        </p:txBody>
      </p:sp>
      <p:sp>
        <p:nvSpPr>
          <p:cNvPr name="Freeform 5" id="5"/>
          <p:cNvSpPr/>
          <p:nvPr/>
        </p:nvSpPr>
        <p:spPr>
          <a:xfrm flipH="false" flipV="false" rot="0">
            <a:off x="2933293" y="7225579"/>
            <a:ext cx="405313" cy="394996"/>
          </a:xfrm>
          <a:custGeom>
            <a:avLst/>
            <a:gdLst/>
            <a:ahLst/>
            <a:cxnLst/>
            <a:rect r="r" b="b" t="t" l="l"/>
            <a:pathLst>
              <a:path h="394996" w="405313">
                <a:moveTo>
                  <a:pt x="0" y="0"/>
                </a:moveTo>
                <a:lnTo>
                  <a:pt x="405314" y="0"/>
                </a:lnTo>
                <a:lnTo>
                  <a:pt x="405314"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445161" y="4287947"/>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1343232" y="7111279"/>
            <a:ext cx="4011474" cy="224155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EDA confirms</a:t>
            </a:r>
            <a:r>
              <a:rPr lang="en-US" sz="2500">
                <a:solidFill>
                  <a:srgbClr val="000000"/>
                </a:solidFill>
                <a:latin typeface="Crimson Roman"/>
                <a:ea typeface="Crimson Roman"/>
                <a:cs typeface="Crimson Roman"/>
                <a:sym typeface="Crimson Roman"/>
              </a:rPr>
              <a:t> that genre, language, and vote count are actionable predictors for content recommendation and acquisition strategy</a:t>
            </a:r>
          </a:p>
        </p:txBody>
      </p:sp>
      <p:sp>
        <p:nvSpPr>
          <p:cNvPr name="Freeform 8" id="8"/>
          <p:cNvSpPr/>
          <p:nvPr/>
        </p:nvSpPr>
        <p:spPr>
          <a:xfrm flipH="false" flipV="false" rot="0">
            <a:off x="10445161" y="7225579"/>
            <a:ext cx="405313" cy="394996"/>
          </a:xfrm>
          <a:custGeom>
            <a:avLst/>
            <a:gdLst/>
            <a:ahLst/>
            <a:cxnLst/>
            <a:rect r="r" b="b" t="t" l="l"/>
            <a:pathLst>
              <a:path h="394996" w="405313">
                <a:moveTo>
                  <a:pt x="0" y="0"/>
                </a:moveTo>
                <a:lnTo>
                  <a:pt x="405313" y="0"/>
                </a:lnTo>
                <a:lnTo>
                  <a:pt x="405313" y="394996"/>
                </a:lnTo>
                <a:lnTo>
                  <a:pt x="0" y="3949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831365" y="4128257"/>
            <a:ext cx="4011474" cy="180340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Netfl</a:t>
            </a:r>
            <a:r>
              <a:rPr lang="en-US" sz="2500">
                <a:solidFill>
                  <a:srgbClr val="000000"/>
                </a:solidFill>
                <a:latin typeface="Crimson Roman"/>
                <a:ea typeface="Crimson Roman"/>
                <a:cs typeface="Crimson Roman"/>
                <a:sym typeface="Crimson Roman"/>
              </a:rPr>
              <a:t>ix content popularity is driven more by genre energy and cultural relevance than by catalog volume</a:t>
            </a:r>
          </a:p>
        </p:txBody>
      </p:sp>
      <p:sp>
        <p:nvSpPr>
          <p:cNvPr name="TextBox 10" id="10"/>
          <p:cNvSpPr txBox="true"/>
          <p:nvPr/>
        </p:nvSpPr>
        <p:spPr>
          <a:xfrm rot="0">
            <a:off x="11343232" y="4128257"/>
            <a:ext cx="4011474" cy="224155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rimson Roman"/>
                <a:ea typeface="Crimson Roman"/>
                <a:cs typeface="Crimson Roman"/>
                <a:sym typeface="Crimson Roman"/>
              </a:rPr>
              <a:t>Non-E</a:t>
            </a:r>
            <a:r>
              <a:rPr lang="en-US" sz="2500">
                <a:solidFill>
                  <a:srgbClr val="000000"/>
                </a:solidFill>
                <a:latin typeface="Crimson Roman"/>
                <a:ea typeface="Crimson Roman"/>
                <a:cs typeface="Crimson Roman"/>
                <a:sym typeface="Crimson Roman"/>
              </a:rPr>
              <a:t>nglish languages, especially Malayalam, Hindi, and Turkish, generate outsized popularity despite limited representation</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4251325"/>
            <a:ext cx="7927032" cy="1651000"/>
          </a:xfrm>
          <a:prstGeom prst="rect">
            <a:avLst/>
          </a:prstGeom>
        </p:spPr>
        <p:txBody>
          <a:bodyPr anchor="t" rtlCol="false" tIns="0" lIns="0" bIns="0" rIns="0">
            <a:spAutoFit/>
          </a:bodyPr>
          <a:lstStyle/>
          <a:p>
            <a:pPr algn="just" marL="0" indent="0" lvl="0">
              <a:lnSpc>
                <a:spcPts val="10999"/>
              </a:lnSpc>
            </a:pPr>
            <a:r>
              <a:rPr lang="en-US" sz="9999">
                <a:solidFill>
                  <a:srgbClr val="1F77B3"/>
                </a:solidFill>
                <a:latin typeface="Crimson Roman"/>
                <a:ea typeface="Crimson Roman"/>
                <a:cs typeface="Crimson Roman"/>
                <a:sym typeface="Crimson Roman"/>
              </a:rPr>
              <a:t>Appendix</a:t>
            </a:r>
          </a:p>
        </p:txBody>
      </p:sp>
      <p:sp>
        <p:nvSpPr>
          <p:cNvPr name="TextBox 3" id="3"/>
          <p:cNvSpPr txBox="true"/>
          <p:nvPr/>
        </p:nvSpPr>
        <p:spPr>
          <a:xfrm rot="0">
            <a:off x="8955732" y="1729740"/>
            <a:ext cx="7758428" cy="6713220"/>
          </a:xfrm>
          <a:prstGeom prst="rect">
            <a:avLst/>
          </a:prstGeom>
        </p:spPr>
        <p:txBody>
          <a:bodyPr anchor="t" rtlCol="false" tIns="0" lIns="0" bIns="0" rIns="0">
            <a:spAutoFit/>
          </a:bodyPr>
          <a:lstStyle/>
          <a:p>
            <a:pPr algn="l" marL="0" indent="0" lvl="0">
              <a:lnSpc>
                <a:spcPts val="3779"/>
              </a:lnSpc>
              <a:spcBef>
                <a:spcPct val="0"/>
              </a:spcBef>
            </a:pPr>
            <a:r>
              <a:rPr lang="en-US" sz="2700">
                <a:solidFill>
                  <a:srgbClr val="000000"/>
                </a:solidFill>
                <a:latin typeface="Crimson Roman"/>
                <a:ea typeface="Crimson Roman"/>
                <a:cs typeface="Crimson Roman"/>
                <a:sym typeface="Crimson Roman"/>
              </a:rPr>
              <a:t>Dataset: N</a:t>
            </a:r>
            <a:r>
              <a:rPr lang="en-US" sz="2700">
                <a:solidFill>
                  <a:srgbClr val="000000"/>
                </a:solidFill>
                <a:latin typeface="Crimson Roman"/>
                <a:ea typeface="Crimson Roman"/>
                <a:cs typeface="Crimson Roman"/>
                <a:sym typeface="Crimson Roman"/>
              </a:rPr>
              <a:t>alisha (2022). Netflix Movies and TV Shows Data Analysis. Kaggle. https://www.kaggle.com/datasets/nalisha/netflix-movies-and-tv-shows-data-analysis </a:t>
            </a:r>
          </a:p>
          <a:p>
            <a:pPr algn="l" marL="0" indent="0" lvl="0">
              <a:lnSpc>
                <a:spcPts val="3779"/>
              </a:lnSpc>
              <a:spcBef>
                <a:spcPct val="0"/>
              </a:spcBef>
            </a:pPr>
          </a:p>
          <a:p>
            <a:pPr algn="l" marL="0" indent="0" lvl="0">
              <a:lnSpc>
                <a:spcPts val="3779"/>
              </a:lnSpc>
              <a:spcBef>
                <a:spcPct val="0"/>
              </a:spcBef>
            </a:pPr>
            <a:r>
              <a:rPr lang="en-US" sz="2700">
                <a:solidFill>
                  <a:srgbClr val="000000"/>
                </a:solidFill>
                <a:latin typeface="Crimson Roman"/>
                <a:ea typeface="Crimson Roman"/>
                <a:cs typeface="Crimson Roman"/>
                <a:sym typeface="Crimson Roman"/>
              </a:rPr>
              <a:t>Variables: Title, Genre, Original_Language, Popularity, Vote_Count, Vote_Average, Release_Date </a:t>
            </a:r>
          </a:p>
          <a:p>
            <a:pPr algn="l" marL="0" indent="0" lvl="0">
              <a:lnSpc>
                <a:spcPts val="3779"/>
              </a:lnSpc>
              <a:spcBef>
                <a:spcPct val="0"/>
              </a:spcBef>
            </a:pPr>
          </a:p>
          <a:p>
            <a:pPr algn="l" marL="0" indent="0" lvl="0">
              <a:lnSpc>
                <a:spcPts val="3779"/>
              </a:lnSpc>
              <a:spcBef>
                <a:spcPct val="0"/>
              </a:spcBef>
            </a:pPr>
            <a:r>
              <a:rPr lang="en-US" sz="2700">
                <a:solidFill>
                  <a:srgbClr val="000000"/>
                </a:solidFill>
                <a:latin typeface="Crimson Roman"/>
                <a:ea typeface="Crimson Roman"/>
                <a:cs typeface="Crimson Roman"/>
                <a:sym typeface="Crimson Roman"/>
              </a:rPr>
              <a:t>Tools: Python 3.x — pandas, numpy, seaborn, matplotlib | Encoding: latin-1 </a:t>
            </a:r>
          </a:p>
          <a:p>
            <a:pPr algn="l" marL="0" indent="0" lvl="0">
              <a:lnSpc>
                <a:spcPts val="3779"/>
              </a:lnSpc>
              <a:spcBef>
                <a:spcPct val="0"/>
              </a:spcBef>
            </a:pPr>
          </a:p>
          <a:p>
            <a:pPr algn="l" marL="0" indent="0" lvl="0">
              <a:lnSpc>
                <a:spcPts val="3779"/>
              </a:lnSpc>
              <a:spcBef>
                <a:spcPct val="0"/>
              </a:spcBef>
            </a:pPr>
            <a:r>
              <a:rPr lang="en-US" sz="2700">
                <a:solidFill>
                  <a:srgbClr val="000000"/>
                </a:solidFill>
                <a:latin typeface="Crimson Roman"/>
                <a:ea typeface="Crimson Roman"/>
                <a:cs typeface="Crimson Roman"/>
                <a:sym typeface="Crimson Roman"/>
              </a:rPr>
              <a:t>Preprocessing: dropna (rows &amp; cols), type casting, categorical binning, dummy encoding, pivot table aggregation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DAHMLbAulkk</dc:identifier>
  <dcterms:modified xsi:type="dcterms:W3CDTF">2011-08-01T06:04:30Z</dcterms:modified>
  <cp:revision>1</cp:revision>
  <dc:title>Netflix Movies &amp; TV Shows:  Data Analysis</dc:title>
</cp:coreProperties>
</file>